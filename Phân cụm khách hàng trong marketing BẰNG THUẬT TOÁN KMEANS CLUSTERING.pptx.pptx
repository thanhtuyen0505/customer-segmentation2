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Open Sans Bold" charset="1" panose="00000000000000000000"/>
      <p:regular r:id="rId30"/>
    </p:embeddedFont>
    <p:embeddedFont>
      <p:font typeface="Open Sans" charset="1" panose="00000000000000000000"/>
      <p:regular r:id="rId31"/>
    </p:embeddedFont>
    <p:embeddedFont>
      <p:font typeface="Noto Sans" charset="1" panose="020B0502040504020204"/>
      <p:regular r:id="rId32"/>
    </p:embeddedFont>
    <p:embeddedFont>
      <p:font typeface="Arial" charset="1" panose="020B06040202020202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 Id="rId4" Target="https://www.kaggle.com/datasets/vishakhdapat/customer-segmentation-clustering"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2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65976" y="564377"/>
            <a:ext cx="8556048" cy="928647"/>
            <a:chOff x="0" y="0"/>
            <a:chExt cx="11408064" cy="1238196"/>
          </a:xfrm>
        </p:grpSpPr>
        <p:sp>
          <p:nvSpPr>
            <p:cNvPr name="Freeform 3" id="3"/>
            <p:cNvSpPr/>
            <p:nvPr/>
          </p:nvSpPr>
          <p:spPr>
            <a:xfrm flipH="false" flipV="false" rot="0">
              <a:off x="0" y="0"/>
              <a:ext cx="11408029" cy="1238250"/>
            </a:xfrm>
            <a:custGeom>
              <a:avLst/>
              <a:gdLst/>
              <a:ahLst/>
              <a:cxnLst/>
              <a:rect r="r" b="b" t="t" l="l"/>
              <a:pathLst>
                <a:path h="1238250" w="11408029">
                  <a:moveTo>
                    <a:pt x="0" y="0"/>
                  </a:moveTo>
                  <a:lnTo>
                    <a:pt x="11408029" y="0"/>
                  </a:lnTo>
                  <a:lnTo>
                    <a:pt x="11408029" y="1238250"/>
                  </a:lnTo>
                  <a:lnTo>
                    <a:pt x="0" y="1238250"/>
                  </a:lnTo>
                  <a:lnTo>
                    <a:pt x="0" y="0"/>
                  </a:lnTo>
                  <a:close/>
                </a:path>
              </a:pathLst>
            </a:custGeom>
            <a:blipFill>
              <a:blip r:embed="rId2"/>
              <a:stretch>
                <a:fillRect l="-72" t="0" r="-72" b="4"/>
              </a:stretch>
            </a:blipFill>
          </p:spPr>
        </p:sp>
      </p:grpSp>
      <p:sp>
        <p:nvSpPr>
          <p:cNvPr name="TextBox 4" id="4"/>
          <p:cNvSpPr txBox="true"/>
          <p:nvPr/>
        </p:nvSpPr>
        <p:spPr>
          <a:xfrm rot="0">
            <a:off x="2175778" y="3524250"/>
            <a:ext cx="13936444" cy="1619250"/>
          </a:xfrm>
          <a:prstGeom prst="rect">
            <a:avLst/>
          </a:prstGeom>
        </p:spPr>
        <p:txBody>
          <a:bodyPr anchor="t" rtlCol="false" tIns="0" lIns="0" bIns="0" rIns="0">
            <a:spAutoFit/>
          </a:bodyPr>
          <a:lstStyle/>
          <a:p>
            <a:pPr algn="ctr">
              <a:lnSpc>
                <a:spcPts val="6298"/>
              </a:lnSpc>
            </a:pPr>
            <a:r>
              <a:rPr lang="en-US" sz="4498" b="true">
                <a:solidFill>
                  <a:srgbClr val="000000"/>
                </a:solidFill>
                <a:latin typeface="Open Sans Bold"/>
                <a:ea typeface="Open Sans Bold"/>
                <a:cs typeface="Open Sans Bold"/>
                <a:sym typeface="Open Sans Bold"/>
              </a:rPr>
              <a:t>PHÂN CỤM KHÁCH HÀNG TRONG MARKETING BẰNG THUẬT TOÁN KMEANS CLUSTERING</a:t>
            </a:r>
          </a:p>
        </p:txBody>
      </p:sp>
      <p:sp>
        <p:nvSpPr>
          <p:cNvPr name="TextBox 5" id="5"/>
          <p:cNvSpPr txBox="true"/>
          <p:nvPr/>
        </p:nvSpPr>
        <p:spPr>
          <a:xfrm rot="0">
            <a:off x="5247704" y="6228679"/>
            <a:ext cx="7553896" cy="695052"/>
          </a:xfrm>
          <a:prstGeom prst="rect">
            <a:avLst/>
          </a:prstGeom>
        </p:spPr>
        <p:txBody>
          <a:bodyPr anchor="t" rtlCol="false" tIns="0" lIns="0" bIns="0" rIns="0">
            <a:spAutoFit/>
          </a:bodyPr>
          <a:lstStyle/>
          <a:p>
            <a:pPr algn="l">
              <a:lnSpc>
                <a:spcPts val="4900"/>
              </a:lnSpc>
            </a:pPr>
            <a:r>
              <a:rPr lang="en-US" sz="3500">
                <a:solidFill>
                  <a:srgbClr val="000000"/>
                </a:solidFill>
                <a:latin typeface="Open Sans"/>
                <a:ea typeface="Open Sans"/>
                <a:cs typeface="Open Sans"/>
                <a:sym typeface="Open Sans"/>
              </a:rPr>
              <a:t>Trình bày bởi: Bùi Thị Thanh Tuyền</a:t>
            </a:r>
          </a:p>
        </p:txBody>
      </p:sp>
      <p:sp>
        <p:nvSpPr>
          <p:cNvPr name="TextBox 6" id="6"/>
          <p:cNvSpPr txBox="true"/>
          <p:nvPr/>
        </p:nvSpPr>
        <p:spPr>
          <a:xfrm rot="0">
            <a:off x="5247704" y="7147081"/>
            <a:ext cx="7792592" cy="596900"/>
          </a:xfrm>
          <a:prstGeom prst="rect">
            <a:avLst/>
          </a:prstGeom>
        </p:spPr>
        <p:txBody>
          <a:bodyPr anchor="t" rtlCol="false" tIns="0" lIns="0" bIns="0" rIns="0">
            <a:spAutoFit/>
          </a:bodyPr>
          <a:lstStyle/>
          <a:p>
            <a:pPr algn="l">
              <a:lnSpc>
                <a:spcPts val="4900"/>
              </a:lnSpc>
            </a:pPr>
            <a:r>
              <a:rPr lang="en-US" sz="3500">
                <a:solidFill>
                  <a:srgbClr val="000000"/>
                </a:solidFill>
                <a:latin typeface="Open Sans"/>
                <a:ea typeface="Open Sans"/>
                <a:cs typeface="Open Sans"/>
                <a:sym typeface="Open Sans"/>
              </a:rPr>
              <a:t>GVHD: Nguyễn Hoàng Điệp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TextBox 4" id="4"/>
          <p:cNvSpPr txBox="true"/>
          <p:nvPr/>
        </p:nvSpPr>
        <p:spPr>
          <a:xfrm rot="0">
            <a:off x="885526" y="19050"/>
            <a:ext cx="3305473" cy="884113"/>
          </a:xfrm>
          <a:prstGeom prst="rect">
            <a:avLst/>
          </a:prstGeom>
        </p:spPr>
        <p:txBody>
          <a:bodyPr anchor="t" rtlCol="false" tIns="0" lIns="0" bIns="0" rIns="0">
            <a:spAutoFit/>
          </a:bodyPr>
          <a:lstStyle/>
          <a:p>
            <a:pPr algn="ctr">
              <a:lnSpc>
                <a:spcPts val="6298"/>
              </a:lnSpc>
            </a:pPr>
            <a:r>
              <a:rPr lang="en-US" sz="4498" b="true">
                <a:solidFill>
                  <a:srgbClr val="FFFFFF"/>
                </a:solidFill>
                <a:latin typeface="Open Sans Bold"/>
                <a:ea typeface="Open Sans Bold"/>
                <a:cs typeface="Open Sans Bold"/>
                <a:sym typeface="Open Sans Bold"/>
              </a:rPr>
              <a:t>Nội dung</a:t>
            </a:r>
          </a:p>
        </p:txBody>
      </p:sp>
      <p:sp>
        <p:nvSpPr>
          <p:cNvPr name="TextBox 5" id="5"/>
          <p:cNvSpPr txBox="true"/>
          <p:nvPr/>
        </p:nvSpPr>
        <p:spPr>
          <a:xfrm rot="0">
            <a:off x="1028700" y="1177842"/>
            <a:ext cx="9161264" cy="7436015"/>
          </a:xfrm>
          <a:prstGeom prst="rect">
            <a:avLst/>
          </a:prstGeom>
        </p:spPr>
        <p:txBody>
          <a:bodyPr anchor="t" rtlCol="false" tIns="0" lIns="0" bIns="0" rIns="0">
            <a:spAutoFit/>
          </a:bodyPr>
          <a:lstStyle/>
          <a:p>
            <a:pPr algn="l">
              <a:lnSpc>
                <a:spcPts val="9997"/>
              </a:lnSpc>
            </a:pPr>
            <a:r>
              <a:rPr lang="en-US" sz="3999" b="true">
                <a:solidFill>
                  <a:srgbClr val="000000"/>
                </a:solidFill>
                <a:latin typeface="Open Sans Bold"/>
                <a:ea typeface="Open Sans Bold"/>
                <a:cs typeface="Open Sans Bold"/>
                <a:sym typeface="Open Sans Bold"/>
              </a:rPr>
              <a:t>1. Tổng quan bài toán</a:t>
            </a:r>
          </a:p>
          <a:p>
            <a:pPr algn="l">
              <a:lnSpc>
                <a:spcPts val="9997"/>
              </a:lnSpc>
            </a:pPr>
            <a:r>
              <a:rPr lang="en-US" sz="3999" b="true">
                <a:solidFill>
                  <a:srgbClr val="000000"/>
                </a:solidFill>
                <a:latin typeface="Open Sans Bold"/>
                <a:ea typeface="Open Sans Bold"/>
                <a:cs typeface="Open Sans Bold"/>
                <a:sym typeface="Open Sans Bold"/>
              </a:rPr>
              <a:t>2. Tập dữ liệu của bài toán</a:t>
            </a:r>
          </a:p>
          <a:p>
            <a:pPr algn="l">
              <a:lnSpc>
                <a:spcPts val="9997"/>
              </a:lnSpc>
            </a:pPr>
            <a:r>
              <a:rPr lang="en-US" sz="3999" b="true">
                <a:solidFill>
                  <a:srgbClr val="000000"/>
                </a:solidFill>
                <a:latin typeface="Open Sans Bold"/>
                <a:ea typeface="Open Sans Bold"/>
                <a:cs typeface="Open Sans Bold"/>
                <a:sym typeface="Open Sans Bold"/>
              </a:rPr>
              <a:t>3. Mô hình học máy</a:t>
            </a:r>
          </a:p>
          <a:p>
            <a:pPr algn="l">
              <a:lnSpc>
                <a:spcPts val="9997"/>
              </a:lnSpc>
            </a:pPr>
            <a:r>
              <a:rPr lang="en-US" sz="3999" b="true">
                <a:solidFill>
                  <a:srgbClr val="000000"/>
                </a:solidFill>
                <a:latin typeface="Open Sans Bold"/>
                <a:ea typeface="Open Sans Bold"/>
                <a:cs typeface="Open Sans Bold"/>
                <a:sym typeface="Open Sans Bold"/>
              </a:rPr>
              <a:t>4. Cài đặt mô hình</a:t>
            </a:r>
          </a:p>
          <a:p>
            <a:pPr algn="l">
              <a:lnSpc>
                <a:spcPts val="9997"/>
              </a:lnSpc>
            </a:pPr>
            <a:r>
              <a:rPr lang="en-US" sz="3999" b="true">
                <a:solidFill>
                  <a:srgbClr val="000000"/>
                </a:solidFill>
                <a:latin typeface="Open Sans Bold"/>
                <a:ea typeface="Open Sans Bold"/>
                <a:cs typeface="Open Sans Bold"/>
                <a:sym typeface="Open Sans Bold"/>
              </a:rPr>
              <a:t>5. Đánh giá mô hình </a:t>
            </a:r>
          </a:p>
          <a:p>
            <a:pPr algn="l">
              <a:lnSpc>
                <a:spcPts val="9997"/>
              </a:lnSpc>
            </a:pPr>
          </a:p>
        </p:txBody>
      </p:sp>
      <p:sp>
        <p:nvSpPr>
          <p:cNvPr name="TextBox 6" id="6"/>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2/24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grpSp>
        <p:nvGrpSpPr>
          <p:cNvPr name="Group 4" id="4"/>
          <p:cNvGrpSpPr/>
          <p:nvPr/>
        </p:nvGrpSpPr>
        <p:grpSpPr>
          <a:xfrm rot="0">
            <a:off x="10363201" y="2171700"/>
            <a:ext cx="6896100" cy="4953000"/>
            <a:chOff x="0" y="0"/>
            <a:chExt cx="9194800" cy="6604000"/>
          </a:xfrm>
        </p:grpSpPr>
        <p:sp>
          <p:nvSpPr>
            <p:cNvPr name="Freeform 5" id="5"/>
            <p:cNvSpPr/>
            <p:nvPr/>
          </p:nvSpPr>
          <p:spPr>
            <a:xfrm flipH="false" flipV="false" rot="0">
              <a:off x="0" y="0"/>
              <a:ext cx="9194800" cy="6604000"/>
            </a:xfrm>
            <a:custGeom>
              <a:avLst/>
              <a:gdLst/>
              <a:ahLst/>
              <a:cxnLst/>
              <a:rect r="r" b="b" t="t" l="l"/>
              <a:pathLst>
                <a:path h="6604000" w="9194800">
                  <a:moveTo>
                    <a:pt x="0" y="0"/>
                  </a:moveTo>
                  <a:lnTo>
                    <a:pt x="9194800" y="0"/>
                  </a:lnTo>
                  <a:lnTo>
                    <a:pt x="9194800" y="6604000"/>
                  </a:lnTo>
                  <a:lnTo>
                    <a:pt x="0" y="6604000"/>
                  </a:lnTo>
                  <a:lnTo>
                    <a:pt x="0" y="0"/>
                  </a:lnTo>
                  <a:close/>
                </a:path>
              </a:pathLst>
            </a:custGeom>
            <a:blipFill>
              <a:blip r:embed="rId3"/>
              <a:stretch>
                <a:fillRect l="0" t="-2211" r="0" b="-2211"/>
              </a:stretch>
            </a:blipFill>
          </p:spPr>
        </p:sp>
      </p:grpSp>
      <p:sp>
        <p:nvSpPr>
          <p:cNvPr name="TextBox 6" id="6"/>
          <p:cNvSpPr txBox="true"/>
          <p:nvPr/>
        </p:nvSpPr>
        <p:spPr>
          <a:xfrm rot="0">
            <a:off x="885527" y="19050"/>
            <a:ext cx="6128246" cy="828675"/>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1. Tổng quan bài toán</a:t>
            </a:r>
          </a:p>
        </p:txBody>
      </p:sp>
      <p:sp>
        <p:nvSpPr>
          <p:cNvPr name="TextBox 7" id="7"/>
          <p:cNvSpPr txBox="true"/>
          <p:nvPr/>
        </p:nvSpPr>
        <p:spPr>
          <a:xfrm rot="0">
            <a:off x="885527" y="1963166"/>
            <a:ext cx="9216922" cy="6381750"/>
          </a:xfrm>
          <a:prstGeom prst="rect">
            <a:avLst/>
          </a:prstGeom>
        </p:spPr>
        <p:txBody>
          <a:bodyPr anchor="t" rtlCol="false" tIns="0" lIns="0" bIns="0" rIns="0">
            <a:spAutoFit/>
          </a:bodyPr>
          <a:lstStyle/>
          <a:p>
            <a:pPr algn="just">
              <a:lnSpc>
                <a:spcPts val="4200"/>
              </a:lnSpc>
            </a:pPr>
            <a:r>
              <a:rPr lang="en-US" sz="3000">
                <a:solidFill>
                  <a:srgbClr val="000000"/>
                </a:solidFill>
                <a:latin typeface="Open Sans"/>
                <a:ea typeface="Open Sans"/>
                <a:cs typeface="Open Sans"/>
                <a:sym typeface="Open Sans"/>
              </a:rPr>
              <a:t>Trong Marketing, phân cụm khách hàng (Customer Segmentation) là bài toán thuộc nhóm học không giám sát, nhằm chia khách hàng thành các nhóm có hành vi, nhu cầu hoặc giá trị tương đồng.</a:t>
            </a:r>
          </a:p>
          <a:p>
            <a:pPr algn="just">
              <a:lnSpc>
                <a:spcPts val="4200"/>
              </a:lnSpc>
            </a:pPr>
          </a:p>
          <a:p>
            <a:pPr algn="just">
              <a:lnSpc>
                <a:spcPts val="4200"/>
              </a:lnSpc>
            </a:pPr>
            <a:r>
              <a:rPr lang="en-US" sz="3000">
                <a:solidFill>
                  <a:srgbClr val="000000"/>
                </a:solidFill>
                <a:latin typeface="Open Sans"/>
                <a:ea typeface="Open Sans"/>
                <a:cs typeface="Open Sans"/>
                <a:sym typeface="Open Sans"/>
              </a:rPr>
              <a:t>Mục tiêu: Mục tiêu chính của phân cụm khách hàng là giúp doanh nghiệp hiểu rõ hơn về cơ sở khách hàng, mường tượng được chân dung khách hàng từ đó xây dựng chiến lược tiếp thị, chăm sóc khách hàng, và sản phẩm phù hợp hơn với từng nhóm khách hàng cụ thể. </a:t>
            </a:r>
          </a:p>
          <a:p>
            <a:pPr algn="just" marL="685803" indent="-228601" lvl="2">
              <a:lnSpc>
                <a:spcPts val="4200"/>
              </a:lnSpc>
            </a:pPr>
          </a:p>
        </p:txBody>
      </p:sp>
      <p:sp>
        <p:nvSpPr>
          <p:cNvPr name="TextBox 8" id="8"/>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3/24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grpSp>
        <p:nvGrpSpPr>
          <p:cNvPr name="Group 4" id="4"/>
          <p:cNvGrpSpPr/>
          <p:nvPr/>
        </p:nvGrpSpPr>
        <p:grpSpPr>
          <a:xfrm rot="0">
            <a:off x="10363201" y="2171700"/>
            <a:ext cx="6896100" cy="4953000"/>
            <a:chOff x="0" y="0"/>
            <a:chExt cx="9194800" cy="6604000"/>
          </a:xfrm>
        </p:grpSpPr>
        <p:sp>
          <p:nvSpPr>
            <p:cNvPr name="Freeform 5" id="5"/>
            <p:cNvSpPr/>
            <p:nvPr/>
          </p:nvSpPr>
          <p:spPr>
            <a:xfrm flipH="false" flipV="false" rot="0">
              <a:off x="0" y="0"/>
              <a:ext cx="9194800" cy="6604000"/>
            </a:xfrm>
            <a:custGeom>
              <a:avLst/>
              <a:gdLst/>
              <a:ahLst/>
              <a:cxnLst/>
              <a:rect r="r" b="b" t="t" l="l"/>
              <a:pathLst>
                <a:path h="6604000" w="9194800">
                  <a:moveTo>
                    <a:pt x="0" y="0"/>
                  </a:moveTo>
                  <a:lnTo>
                    <a:pt x="9194800" y="0"/>
                  </a:lnTo>
                  <a:lnTo>
                    <a:pt x="9194800" y="6604000"/>
                  </a:lnTo>
                  <a:lnTo>
                    <a:pt x="0" y="6604000"/>
                  </a:lnTo>
                  <a:lnTo>
                    <a:pt x="0" y="0"/>
                  </a:lnTo>
                  <a:close/>
                </a:path>
              </a:pathLst>
            </a:custGeom>
            <a:blipFill>
              <a:blip r:embed="rId3"/>
              <a:stretch>
                <a:fillRect l="0" t="-2211" r="0" b="-2211"/>
              </a:stretch>
            </a:blipFill>
          </p:spPr>
        </p:sp>
      </p:grpSp>
      <p:sp>
        <p:nvSpPr>
          <p:cNvPr name="TextBox 6" id="6"/>
          <p:cNvSpPr txBox="true"/>
          <p:nvPr/>
        </p:nvSpPr>
        <p:spPr>
          <a:xfrm rot="0">
            <a:off x="885527" y="19050"/>
            <a:ext cx="6128246" cy="828675"/>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1. Tổng quan bài toán</a:t>
            </a:r>
          </a:p>
        </p:txBody>
      </p:sp>
      <p:sp>
        <p:nvSpPr>
          <p:cNvPr name="TextBox 7" id="7"/>
          <p:cNvSpPr txBox="true"/>
          <p:nvPr/>
        </p:nvSpPr>
        <p:spPr>
          <a:xfrm rot="0">
            <a:off x="885527" y="1963166"/>
            <a:ext cx="9216922" cy="3714750"/>
          </a:xfrm>
          <a:prstGeom prst="rect">
            <a:avLst/>
          </a:prstGeom>
        </p:spPr>
        <p:txBody>
          <a:bodyPr anchor="t" rtlCol="false" tIns="0" lIns="0" bIns="0" rIns="0">
            <a:spAutoFit/>
          </a:bodyPr>
          <a:lstStyle/>
          <a:p>
            <a:pPr algn="just">
              <a:lnSpc>
                <a:spcPts val="4200"/>
              </a:lnSpc>
            </a:pPr>
            <a:r>
              <a:rPr lang="en-US" b="true" sz="3000">
                <a:solidFill>
                  <a:srgbClr val="000000"/>
                </a:solidFill>
                <a:latin typeface="Open Sans Bold"/>
                <a:ea typeface="Open Sans Bold"/>
                <a:cs typeface="Open Sans Bold"/>
                <a:sym typeface="Open Sans Bold"/>
              </a:rPr>
              <a:t>Trả lời câu hỏi:</a:t>
            </a:r>
          </a:p>
          <a:p>
            <a:pPr algn="just">
              <a:lnSpc>
                <a:spcPts val="4200"/>
              </a:lnSpc>
            </a:pPr>
            <a:r>
              <a:rPr lang="en-US" sz="3000">
                <a:solidFill>
                  <a:srgbClr val="000000"/>
                </a:solidFill>
                <a:latin typeface="Open Sans"/>
                <a:ea typeface="Open Sans"/>
                <a:cs typeface="Open Sans"/>
                <a:sym typeface="Open Sans"/>
              </a:rPr>
              <a:t>Ai là người mua?</a:t>
            </a:r>
          </a:p>
          <a:p>
            <a:pPr algn="just">
              <a:lnSpc>
                <a:spcPts val="4200"/>
              </a:lnSpc>
            </a:pPr>
            <a:r>
              <a:rPr lang="en-US" sz="3000">
                <a:solidFill>
                  <a:srgbClr val="000000"/>
                </a:solidFill>
                <a:latin typeface="Open Sans"/>
                <a:ea typeface="Open Sans"/>
                <a:cs typeface="Open Sans"/>
                <a:sym typeface="Open Sans"/>
              </a:rPr>
              <a:t>Họ có hành vi mua sắm như thế nào?</a:t>
            </a:r>
          </a:p>
          <a:p>
            <a:pPr algn="just">
              <a:lnSpc>
                <a:spcPts val="4200"/>
              </a:lnSpc>
            </a:pPr>
            <a:r>
              <a:rPr lang="en-US" sz="3000">
                <a:solidFill>
                  <a:srgbClr val="000000"/>
                </a:solidFill>
                <a:latin typeface="Open Sans"/>
                <a:ea typeface="Open Sans"/>
                <a:cs typeface="Open Sans"/>
                <a:sym typeface="Open Sans"/>
              </a:rPr>
              <a:t>Sảm phẩm họ hay mua là gì?</a:t>
            </a:r>
          </a:p>
          <a:p>
            <a:pPr algn="just">
              <a:lnSpc>
                <a:spcPts val="4200"/>
              </a:lnSpc>
            </a:pPr>
            <a:r>
              <a:rPr lang="en-US" sz="3000">
                <a:solidFill>
                  <a:srgbClr val="000000"/>
                </a:solidFill>
                <a:latin typeface="Open Sans"/>
                <a:ea typeface="Open Sans"/>
                <a:cs typeface="Open Sans"/>
                <a:sym typeface="Open Sans"/>
              </a:rPr>
              <a:t>Họ mua với hình thức gì?</a:t>
            </a:r>
          </a:p>
          <a:p>
            <a:pPr algn="just">
              <a:lnSpc>
                <a:spcPts val="4200"/>
              </a:lnSpc>
            </a:pPr>
            <a:r>
              <a:rPr lang="en-US" sz="3000">
                <a:solidFill>
                  <a:srgbClr val="000000"/>
                </a:solidFill>
                <a:latin typeface="Open Sans"/>
                <a:ea typeface="Open Sans"/>
                <a:cs typeface="Open Sans"/>
                <a:sym typeface="Open Sans"/>
              </a:rPr>
              <a:t>.... </a:t>
            </a:r>
          </a:p>
          <a:p>
            <a:pPr algn="just" marL="685803" indent="-228601" lvl="2">
              <a:lnSpc>
                <a:spcPts val="4200"/>
              </a:lnSpc>
            </a:pPr>
          </a:p>
        </p:txBody>
      </p:sp>
      <p:sp>
        <p:nvSpPr>
          <p:cNvPr name="TextBox 8" id="8"/>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4/24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1323975" y="3864116"/>
            <a:ext cx="13840879" cy="2273019"/>
          </a:xfrm>
          <a:custGeom>
            <a:avLst/>
            <a:gdLst/>
            <a:ahLst/>
            <a:cxnLst/>
            <a:rect r="r" b="b" t="t" l="l"/>
            <a:pathLst>
              <a:path h="2273019" w="13840879">
                <a:moveTo>
                  <a:pt x="0" y="0"/>
                </a:moveTo>
                <a:lnTo>
                  <a:pt x="13840879" y="0"/>
                </a:lnTo>
                <a:lnTo>
                  <a:pt x="13840879" y="2273018"/>
                </a:lnTo>
                <a:lnTo>
                  <a:pt x="0" y="2273018"/>
                </a:lnTo>
                <a:lnTo>
                  <a:pt x="0" y="0"/>
                </a:lnTo>
                <a:close/>
              </a:path>
            </a:pathLst>
          </a:custGeom>
          <a:blipFill>
            <a:blip r:embed="rId3"/>
            <a:stretch>
              <a:fillRect l="0" t="0" r="0" b="-1233"/>
            </a:stretch>
          </a:blipFill>
        </p:spPr>
      </p:sp>
      <p:sp>
        <p:nvSpPr>
          <p:cNvPr name="TextBox 5" id="5"/>
          <p:cNvSpPr txBox="true"/>
          <p:nvPr/>
        </p:nvSpPr>
        <p:spPr>
          <a:xfrm rot="0">
            <a:off x="885527" y="19050"/>
            <a:ext cx="7493993" cy="752450"/>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2</a:t>
            </a:r>
            <a:r>
              <a:rPr lang="en-US" sz="4498" b="true">
                <a:solidFill>
                  <a:srgbClr val="FFFFFF"/>
                </a:solidFill>
                <a:latin typeface="Open Sans Bold"/>
                <a:ea typeface="Open Sans Bold"/>
                <a:cs typeface="Open Sans Bold"/>
                <a:sym typeface="Open Sans Bold"/>
              </a:rPr>
              <a:t>. Tập dữ liệu của bài toán</a:t>
            </a:r>
          </a:p>
        </p:txBody>
      </p:sp>
      <p:sp>
        <p:nvSpPr>
          <p:cNvPr name="TextBox 6" id="6"/>
          <p:cNvSpPr txBox="true"/>
          <p:nvPr/>
        </p:nvSpPr>
        <p:spPr>
          <a:xfrm rot="0">
            <a:off x="1348740" y="1606113"/>
            <a:ext cx="15590520" cy="2074545"/>
          </a:xfrm>
          <a:prstGeom prst="rect">
            <a:avLst/>
          </a:prstGeom>
        </p:spPr>
        <p:txBody>
          <a:bodyPr anchor="t" rtlCol="false" tIns="0" lIns="0" bIns="0" rIns="0">
            <a:spAutoFit/>
          </a:bodyPr>
          <a:lstStyle/>
          <a:p>
            <a:pPr algn="l">
              <a:lnSpc>
                <a:spcPts val="3240"/>
              </a:lnSpc>
            </a:pPr>
            <a:r>
              <a:rPr lang="en-US" sz="3000">
                <a:solidFill>
                  <a:srgbClr val="000000"/>
                </a:solidFill>
                <a:latin typeface="Arial"/>
                <a:ea typeface="Arial"/>
                <a:cs typeface="Arial"/>
                <a:sym typeface="Arial"/>
              </a:rPr>
              <a:t>Dataset:</a:t>
            </a:r>
            <a:r>
              <a:rPr lang="en-US" sz="3000">
                <a:solidFill>
                  <a:srgbClr val="000000"/>
                </a:solidFill>
                <a:latin typeface="Arial"/>
                <a:ea typeface="Arial"/>
                <a:cs typeface="Arial"/>
                <a:sym typeface="Arial"/>
              </a:rPr>
              <a:t> customer_segmentation.csv</a:t>
            </a:r>
          </a:p>
          <a:p>
            <a:pPr algn="l">
              <a:lnSpc>
                <a:spcPts val="3240"/>
              </a:lnSpc>
            </a:pPr>
            <a:r>
              <a:rPr lang="en-US" sz="3000">
                <a:solidFill>
                  <a:srgbClr val="000000"/>
                </a:solidFill>
                <a:latin typeface="Arial"/>
                <a:ea typeface="Arial"/>
                <a:cs typeface="Arial"/>
                <a:sym typeface="Arial"/>
              </a:rPr>
              <a:t>Đường dẫn: </a:t>
            </a:r>
            <a:r>
              <a:rPr lang="en-US" sz="3000" u="sng">
                <a:solidFill>
                  <a:srgbClr val="000000"/>
                </a:solidFill>
                <a:latin typeface="Arial"/>
                <a:ea typeface="Arial"/>
                <a:cs typeface="Arial"/>
                <a:sym typeface="Arial"/>
                <a:hlinkClick r:id="rId4" tooltip="https://www.kaggle.com/datasets/vishakhdapat/customer-segmentation-clustering"/>
              </a:rPr>
              <a:t>https://www.kaggle.com/datasets/vishakhdapat/customer-segmentation-clustering</a:t>
            </a:r>
          </a:p>
          <a:p>
            <a:pPr algn="l">
              <a:lnSpc>
                <a:spcPts val="3240"/>
              </a:lnSpc>
            </a:pPr>
            <a:r>
              <a:rPr lang="en-US" sz="3000">
                <a:solidFill>
                  <a:srgbClr val="000000"/>
                </a:solidFill>
                <a:latin typeface="Arial"/>
                <a:ea typeface="Arial"/>
                <a:cs typeface="Arial"/>
                <a:sym typeface="Arial"/>
              </a:rPr>
              <a:t>Bộ dữ liệu gồm có 29 đặc trưng và 2240 bản ghi, một số dữ liệu của bài toán: </a:t>
            </a:r>
          </a:p>
          <a:p>
            <a:pPr algn="l">
              <a:lnSpc>
                <a:spcPts val="3240"/>
              </a:lnSpc>
            </a:pPr>
          </a:p>
        </p:txBody>
      </p:sp>
      <p:sp>
        <p:nvSpPr>
          <p:cNvPr name="TextBox 7" id="7"/>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5/24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3834604" y="1419323"/>
            <a:ext cx="10504491" cy="7838977"/>
          </a:xfrm>
          <a:custGeom>
            <a:avLst/>
            <a:gdLst/>
            <a:ahLst/>
            <a:cxnLst/>
            <a:rect r="r" b="b" t="t" l="l"/>
            <a:pathLst>
              <a:path h="7838977" w="10504491">
                <a:moveTo>
                  <a:pt x="0" y="0"/>
                </a:moveTo>
                <a:lnTo>
                  <a:pt x="10504492" y="0"/>
                </a:lnTo>
                <a:lnTo>
                  <a:pt x="10504492" y="7838977"/>
                </a:lnTo>
                <a:lnTo>
                  <a:pt x="0" y="7838977"/>
                </a:lnTo>
                <a:lnTo>
                  <a:pt x="0" y="0"/>
                </a:lnTo>
                <a:close/>
              </a:path>
            </a:pathLst>
          </a:custGeom>
          <a:blipFill>
            <a:blip r:embed="rId3"/>
            <a:stretch>
              <a:fillRect l="0" t="0" r="0" b="0"/>
            </a:stretch>
          </a:blipFill>
        </p:spPr>
      </p:sp>
      <p:sp>
        <p:nvSpPr>
          <p:cNvPr name="TextBox 5" id="5"/>
          <p:cNvSpPr txBox="true"/>
          <p:nvPr/>
        </p:nvSpPr>
        <p:spPr>
          <a:xfrm rot="0">
            <a:off x="885527" y="19050"/>
            <a:ext cx="7493993" cy="752450"/>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2</a:t>
            </a:r>
            <a:r>
              <a:rPr lang="en-US" sz="4498" b="true">
                <a:solidFill>
                  <a:srgbClr val="FFFFFF"/>
                </a:solidFill>
                <a:latin typeface="Open Sans Bold"/>
                <a:ea typeface="Open Sans Bold"/>
                <a:cs typeface="Open Sans Bold"/>
                <a:sym typeface="Open Sans Bold"/>
              </a:rPr>
              <a:t>. Tập dữ liệu của bài toán</a:t>
            </a:r>
          </a:p>
        </p:txBody>
      </p:sp>
      <p:sp>
        <p:nvSpPr>
          <p:cNvPr name="TextBox 6" id="6"/>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6/24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2972869" y="2304093"/>
            <a:ext cx="12570401" cy="5783784"/>
          </a:xfrm>
          <a:custGeom>
            <a:avLst/>
            <a:gdLst/>
            <a:ahLst/>
            <a:cxnLst/>
            <a:rect r="r" b="b" t="t" l="l"/>
            <a:pathLst>
              <a:path h="5783784" w="12570401">
                <a:moveTo>
                  <a:pt x="0" y="0"/>
                </a:moveTo>
                <a:lnTo>
                  <a:pt x="12570400" y="0"/>
                </a:lnTo>
                <a:lnTo>
                  <a:pt x="12570400" y="5783783"/>
                </a:lnTo>
                <a:lnTo>
                  <a:pt x="0" y="5783783"/>
                </a:lnTo>
                <a:lnTo>
                  <a:pt x="0" y="0"/>
                </a:lnTo>
                <a:close/>
              </a:path>
            </a:pathLst>
          </a:custGeom>
          <a:blipFill>
            <a:blip r:embed="rId3"/>
            <a:stretch>
              <a:fillRect l="0" t="0" r="0" b="0"/>
            </a:stretch>
          </a:blipFill>
        </p:spPr>
      </p:sp>
      <p:sp>
        <p:nvSpPr>
          <p:cNvPr name="TextBox 5" id="5"/>
          <p:cNvSpPr txBox="true"/>
          <p:nvPr/>
        </p:nvSpPr>
        <p:spPr>
          <a:xfrm rot="0">
            <a:off x="885527" y="19050"/>
            <a:ext cx="7493993" cy="828675"/>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3. Tập dữ liệu của bài toán</a:t>
            </a:r>
          </a:p>
        </p:txBody>
      </p:sp>
      <p:sp>
        <p:nvSpPr>
          <p:cNvPr name="TextBox 6" id="6"/>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7/24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4117052" y="1028700"/>
            <a:ext cx="10407277" cy="8518860"/>
          </a:xfrm>
          <a:custGeom>
            <a:avLst/>
            <a:gdLst/>
            <a:ahLst/>
            <a:cxnLst/>
            <a:rect r="r" b="b" t="t" l="l"/>
            <a:pathLst>
              <a:path h="8518860" w="10407277">
                <a:moveTo>
                  <a:pt x="0" y="0"/>
                </a:moveTo>
                <a:lnTo>
                  <a:pt x="10407277" y="0"/>
                </a:lnTo>
                <a:lnTo>
                  <a:pt x="10407277" y="8518860"/>
                </a:lnTo>
                <a:lnTo>
                  <a:pt x="0" y="8518860"/>
                </a:lnTo>
                <a:lnTo>
                  <a:pt x="0" y="0"/>
                </a:lnTo>
                <a:close/>
              </a:path>
            </a:pathLst>
          </a:custGeom>
          <a:blipFill>
            <a:blip r:embed="rId3"/>
            <a:stretch>
              <a:fillRect l="0" t="0" r="0" b="0"/>
            </a:stretch>
          </a:blipFill>
        </p:spPr>
      </p:sp>
      <p:sp>
        <p:nvSpPr>
          <p:cNvPr name="TextBox 5" id="5"/>
          <p:cNvSpPr txBox="true"/>
          <p:nvPr/>
        </p:nvSpPr>
        <p:spPr>
          <a:xfrm rot="0">
            <a:off x="885527" y="19050"/>
            <a:ext cx="7493993" cy="828675"/>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3. Tập dữ liệu của bài toán</a:t>
            </a:r>
          </a:p>
        </p:txBody>
      </p:sp>
      <p:sp>
        <p:nvSpPr>
          <p:cNvPr name="TextBox 6" id="6"/>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8/24</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4632524" y="1734452"/>
            <a:ext cx="9124139" cy="6894556"/>
          </a:xfrm>
          <a:custGeom>
            <a:avLst/>
            <a:gdLst/>
            <a:ahLst/>
            <a:cxnLst/>
            <a:rect r="r" b="b" t="t" l="l"/>
            <a:pathLst>
              <a:path h="6894556" w="9124139">
                <a:moveTo>
                  <a:pt x="0" y="0"/>
                </a:moveTo>
                <a:lnTo>
                  <a:pt x="9124139" y="0"/>
                </a:lnTo>
                <a:lnTo>
                  <a:pt x="9124139" y="6894556"/>
                </a:lnTo>
                <a:lnTo>
                  <a:pt x="0" y="6894556"/>
                </a:lnTo>
                <a:lnTo>
                  <a:pt x="0" y="0"/>
                </a:lnTo>
                <a:close/>
              </a:path>
            </a:pathLst>
          </a:custGeom>
          <a:blipFill>
            <a:blip r:embed="rId3"/>
            <a:stretch>
              <a:fillRect l="0" t="0" r="0" b="0"/>
            </a:stretch>
          </a:blipFill>
        </p:spPr>
      </p:sp>
      <p:sp>
        <p:nvSpPr>
          <p:cNvPr name="TextBox 5" id="5"/>
          <p:cNvSpPr txBox="true"/>
          <p:nvPr/>
        </p:nvSpPr>
        <p:spPr>
          <a:xfrm rot="0">
            <a:off x="885527" y="19050"/>
            <a:ext cx="7493993" cy="828675"/>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3. Tập dữ liệu của bài toán</a:t>
            </a:r>
          </a:p>
        </p:txBody>
      </p:sp>
      <p:sp>
        <p:nvSpPr>
          <p:cNvPr name="TextBox 6" id="6"/>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9/24</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4436487" y="1880877"/>
            <a:ext cx="8492641" cy="6454407"/>
          </a:xfrm>
          <a:custGeom>
            <a:avLst/>
            <a:gdLst/>
            <a:ahLst/>
            <a:cxnLst/>
            <a:rect r="r" b="b" t="t" l="l"/>
            <a:pathLst>
              <a:path h="6454407" w="8492641">
                <a:moveTo>
                  <a:pt x="0" y="0"/>
                </a:moveTo>
                <a:lnTo>
                  <a:pt x="8492641" y="0"/>
                </a:lnTo>
                <a:lnTo>
                  <a:pt x="8492641" y="6454407"/>
                </a:lnTo>
                <a:lnTo>
                  <a:pt x="0" y="6454407"/>
                </a:lnTo>
                <a:lnTo>
                  <a:pt x="0" y="0"/>
                </a:lnTo>
                <a:close/>
              </a:path>
            </a:pathLst>
          </a:custGeom>
          <a:blipFill>
            <a:blip r:embed="rId3"/>
            <a:stretch>
              <a:fillRect l="0" t="0" r="0" b="0"/>
            </a:stretch>
          </a:blipFill>
        </p:spPr>
      </p:sp>
      <p:sp>
        <p:nvSpPr>
          <p:cNvPr name="TextBox 5" id="5"/>
          <p:cNvSpPr txBox="true"/>
          <p:nvPr/>
        </p:nvSpPr>
        <p:spPr>
          <a:xfrm rot="0">
            <a:off x="885527" y="19050"/>
            <a:ext cx="7493993" cy="828675"/>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3. Tập dữ liệu của bài toán</a:t>
            </a:r>
          </a:p>
        </p:txBody>
      </p:sp>
      <p:sp>
        <p:nvSpPr>
          <p:cNvPr name="TextBox 6" id="6"/>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10/24</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6259161" y="1218549"/>
            <a:ext cx="6394457" cy="8699941"/>
          </a:xfrm>
          <a:custGeom>
            <a:avLst/>
            <a:gdLst/>
            <a:ahLst/>
            <a:cxnLst/>
            <a:rect r="r" b="b" t="t" l="l"/>
            <a:pathLst>
              <a:path h="8699941" w="6394457">
                <a:moveTo>
                  <a:pt x="0" y="0"/>
                </a:moveTo>
                <a:lnTo>
                  <a:pt x="6394457" y="0"/>
                </a:lnTo>
                <a:lnTo>
                  <a:pt x="6394457" y="8699941"/>
                </a:lnTo>
                <a:lnTo>
                  <a:pt x="0" y="8699941"/>
                </a:lnTo>
                <a:lnTo>
                  <a:pt x="0" y="0"/>
                </a:lnTo>
                <a:close/>
              </a:path>
            </a:pathLst>
          </a:custGeom>
          <a:blipFill>
            <a:blip r:embed="rId3"/>
            <a:stretch>
              <a:fillRect l="0" t="0" r="0" b="0"/>
            </a:stretch>
          </a:blipFill>
        </p:spPr>
      </p:sp>
      <p:sp>
        <p:nvSpPr>
          <p:cNvPr name="TextBox 5" id="5"/>
          <p:cNvSpPr txBox="true"/>
          <p:nvPr/>
        </p:nvSpPr>
        <p:spPr>
          <a:xfrm rot="0">
            <a:off x="885527" y="19050"/>
            <a:ext cx="7493993" cy="828675"/>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3. Tập dữ liệu của bài toán</a:t>
            </a:r>
          </a:p>
        </p:txBody>
      </p:sp>
      <p:sp>
        <p:nvSpPr>
          <p:cNvPr name="TextBox 6" id="6"/>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11/24</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4283174" y="3986653"/>
            <a:ext cx="8541316" cy="5338322"/>
          </a:xfrm>
          <a:custGeom>
            <a:avLst/>
            <a:gdLst/>
            <a:ahLst/>
            <a:cxnLst/>
            <a:rect r="r" b="b" t="t" l="l"/>
            <a:pathLst>
              <a:path h="5338322" w="8541316">
                <a:moveTo>
                  <a:pt x="0" y="0"/>
                </a:moveTo>
                <a:lnTo>
                  <a:pt x="8541316" y="0"/>
                </a:lnTo>
                <a:lnTo>
                  <a:pt x="8541316" y="5338322"/>
                </a:lnTo>
                <a:lnTo>
                  <a:pt x="0" y="5338322"/>
                </a:lnTo>
                <a:lnTo>
                  <a:pt x="0" y="0"/>
                </a:lnTo>
                <a:close/>
              </a:path>
            </a:pathLst>
          </a:custGeom>
          <a:blipFill>
            <a:blip r:embed="rId3"/>
            <a:stretch>
              <a:fillRect l="0" t="0" r="0" b="0"/>
            </a:stretch>
          </a:blipFill>
        </p:spPr>
      </p:sp>
      <p:sp>
        <p:nvSpPr>
          <p:cNvPr name="TextBox 5" id="5"/>
          <p:cNvSpPr txBox="true"/>
          <p:nvPr/>
        </p:nvSpPr>
        <p:spPr>
          <a:xfrm rot="0">
            <a:off x="885527" y="19050"/>
            <a:ext cx="7119144" cy="752450"/>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3</a:t>
            </a:r>
            <a:r>
              <a:rPr lang="en-US" sz="4498" b="true">
                <a:solidFill>
                  <a:srgbClr val="FFFFFF"/>
                </a:solidFill>
                <a:latin typeface="Open Sans Bold"/>
                <a:ea typeface="Open Sans Bold"/>
                <a:cs typeface="Open Sans Bold"/>
                <a:sym typeface="Open Sans Bold"/>
              </a:rPr>
              <a:t>. Mô hình học máy</a:t>
            </a:r>
          </a:p>
        </p:txBody>
      </p:sp>
      <p:sp>
        <p:nvSpPr>
          <p:cNvPr name="TextBox 6" id="6"/>
          <p:cNvSpPr txBox="true"/>
          <p:nvPr/>
        </p:nvSpPr>
        <p:spPr>
          <a:xfrm rot="0">
            <a:off x="774749" y="1179088"/>
            <a:ext cx="3772099" cy="514316"/>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Open Sans Bold"/>
                <a:ea typeface="Open Sans Bold"/>
                <a:cs typeface="Open Sans Bold"/>
                <a:sym typeface="Open Sans Bold"/>
              </a:rPr>
              <a:t>K-Means Clustering </a:t>
            </a:r>
          </a:p>
        </p:txBody>
      </p:sp>
      <p:sp>
        <p:nvSpPr>
          <p:cNvPr name="TextBox 7" id="7"/>
          <p:cNvSpPr txBox="true"/>
          <p:nvPr/>
        </p:nvSpPr>
        <p:spPr>
          <a:xfrm rot="0">
            <a:off x="836017" y="2100993"/>
            <a:ext cx="16423283" cy="2114516"/>
          </a:xfrm>
          <a:prstGeom prst="rect">
            <a:avLst/>
          </a:prstGeom>
        </p:spPr>
        <p:txBody>
          <a:bodyPr anchor="t" rtlCol="false" tIns="0" lIns="0" bIns="0" rIns="0">
            <a:spAutoFit/>
          </a:bodyPr>
          <a:lstStyle/>
          <a:p>
            <a:pPr algn="just">
              <a:lnSpc>
                <a:spcPts val="4200"/>
              </a:lnSpc>
              <a:spcBef>
                <a:spcPct val="0"/>
              </a:spcBef>
            </a:pPr>
            <a:r>
              <a:rPr lang="en-US" sz="3000">
                <a:solidFill>
                  <a:srgbClr val="000000"/>
                </a:solidFill>
                <a:latin typeface="Open Sans"/>
                <a:ea typeface="Open Sans"/>
                <a:cs typeface="Open Sans"/>
                <a:sym typeface="Open Sans"/>
              </a:rPr>
              <a:t>Định nghĩa: </a:t>
            </a:r>
            <a:r>
              <a:rPr lang="en-US" sz="3000">
                <a:solidFill>
                  <a:srgbClr val="000000"/>
                </a:solidFill>
                <a:latin typeface="Open Sans"/>
                <a:ea typeface="Open Sans"/>
                <a:cs typeface="Open Sans"/>
                <a:sym typeface="Open Sans"/>
              </a:rPr>
              <a:t>K-means clustering (K-Means) là một kỹ thuật dùng để xác định các nhóm (cụm) tự nhiên và các điểm trung tâm (tâm cụm) của chúng từ một bộ dữ liệu chưa được gán nhãn trước. Để thực hiện thuật toán này, người dùng cần phải định trước số lượng cụm mong muốn, ký hiệu là k.</a:t>
            </a:r>
          </a:p>
        </p:txBody>
      </p:sp>
      <p:sp>
        <p:nvSpPr>
          <p:cNvPr name="TextBox 8" id="8"/>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12/24</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TextBox 4" id="4"/>
          <p:cNvSpPr txBox="true"/>
          <p:nvPr/>
        </p:nvSpPr>
        <p:spPr>
          <a:xfrm rot="0">
            <a:off x="885527" y="19050"/>
            <a:ext cx="7119144" cy="752450"/>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3</a:t>
            </a:r>
            <a:r>
              <a:rPr lang="en-US" sz="4498" b="true">
                <a:solidFill>
                  <a:srgbClr val="FFFFFF"/>
                </a:solidFill>
                <a:latin typeface="Open Sans Bold"/>
                <a:ea typeface="Open Sans Bold"/>
                <a:cs typeface="Open Sans Bold"/>
                <a:sym typeface="Open Sans Bold"/>
              </a:rPr>
              <a:t>. Mô hình học máy</a:t>
            </a:r>
          </a:p>
        </p:txBody>
      </p:sp>
      <p:sp>
        <p:nvSpPr>
          <p:cNvPr name="TextBox 5" id="5"/>
          <p:cNvSpPr txBox="true"/>
          <p:nvPr/>
        </p:nvSpPr>
        <p:spPr>
          <a:xfrm rot="0">
            <a:off x="1087685" y="1179088"/>
            <a:ext cx="3146227" cy="514316"/>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Open Sans"/>
                <a:ea typeface="Open Sans"/>
                <a:cs typeface="Open Sans"/>
                <a:sym typeface="Open Sans"/>
              </a:rPr>
              <a:t>Đánh giá mô hình</a:t>
            </a:r>
          </a:p>
        </p:txBody>
      </p:sp>
      <p:sp>
        <p:nvSpPr>
          <p:cNvPr name="TextBox 6" id="6"/>
          <p:cNvSpPr txBox="true"/>
          <p:nvPr/>
        </p:nvSpPr>
        <p:spPr>
          <a:xfrm rot="0">
            <a:off x="836017" y="2100993"/>
            <a:ext cx="16423283" cy="3181333"/>
          </a:xfrm>
          <a:prstGeom prst="rect">
            <a:avLst/>
          </a:prstGeom>
        </p:spPr>
        <p:txBody>
          <a:bodyPr anchor="t" rtlCol="false" tIns="0" lIns="0" bIns="0" rIns="0">
            <a:spAutoFit/>
          </a:bodyPr>
          <a:lstStyle/>
          <a:p>
            <a:pPr algn="just" marL="647700" indent="-323850" lvl="1">
              <a:lnSpc>
                <a:spcPts val="4200"/>
              </a:lnSpc>
              <a:spcBef>
                <a:spcPct val="0"/>
              </a:spcBef>
              <a:buFont typeface="Arial"/>
              <a:buChar char="•"/>
            </a:pPr>
            <a:r>
              <a:rPr lang="en-US" sz="3000">
                <a:solidFill>
                  <a:srgbClr val="000000"/>
                </a:solidFill>
                <a:latin typeface="Open Sans"/>
                <a:ea typeface="Open Sans"/>
                <a:cs typeface="Open Sans"/>
                <a:sym typeface="Open Sans"/>
              </a:rPr>
              <a:t>S</a:t>
            </a:r>
            <a:r>
              <a:rPr lang="en-US" sz="3000">
                <a:solidFill>
                  <a:srgbClr val="000000"/>
                </a:solidFill>
                <a:latin typeface="Open Sans"/>
                <a:ea typeface="Open Sans"/>
                <a:cs typeface="Open Sans"/>
                <a:sym typeface="Open Sans"/>
              </a:rPr>
              <a:t>ilhouette Score</a:t>
            </a:r>
          </a:p>
          <a:p>
            <a:pPr algn="just" marL="647700" indent="-323850" lvl="1">
              <a:lnSpc>
                <a:spcPts val="4200"/>
              </a:lnSpc>
              <a:spcBef>
                <a:spcPct val="0"/>
              </a:spcBef>
              <a:buFont typeface="Arial"/>
              <a:buChar char="•"/>
            </a:pPr>
            <a:r>
              <a:rPr lang="en-US" sz="3000">
                <a:solidFill>
                  <a:srgbClr val="000000"/>
                </a:solidFill>
                <a:latin typeface="Open Sans"/>
                <a:ea typeface="Open Sans"/>
                <a:cs typeface="Open Sans"/>
                <a:sym typeface="Open Sans"/>
              </a:rPr>
              <a:t>Davies- bouldin index</a:t>
            </a:r>
          </a:p>
          <a:p>
            <a:pPr algn="just" marL="647700" indent="-323850" lvl="1">
              <a:lnSpc>
                <a:spcPts val="4200"/>
              </a:lnSpc>
              <a:spcBef>
                <a:spcPct val="0"/>
              </a:spcBef>
              <a:buFont typeface="Arial"/>
              <a:buChar char="•"/>
            </a:pPr>
            <a:r>
              <a:rPr lang="en-US" sz="3000">
                <a:solidFill>
                  <a:srgbClr val="000000"/>
                </a:solidFill>
                <a:latin typeface="Open Sans"/>
                <a:ea typeface="Open Sans"/>
                <a:cs typeface="Open Sans"/>
                <a:sym typeface="Open Sans"/>
              </a:rPr>
              <a:t>Trực quan dữ liệu (Dùng PCA để giảm chiều dữ liệu) </a:t>
            </a:r>
          </a:p>
          <a:p>
            <a:pPr algn="just">
              <a:lnSpc>
                <a:spcPts val="4200"/>
              </a:lnSpc>
              <a:spcBef>
                <a:spcPct val="0"/>
              </a:spcBef>
            </a:pPr>
            <a:r>
              <a:rPr lang="en-US" sz="3000">
                <a:solidFill>
                  <a:srgbClr val="000000"/>
                </a:solidFill>
                <a:latin typeface="Open Sans"/>
                <a:ea typeface="Open Sans"/>
                <a:cs typeface="Open Sans"/>
                <a:sym typeface="Open Sans"/>
              </a:rPr>
              <a:t>PCA </a:t>
            </a:r>
            <a:r>
              <a:rPr lang="en-US" sz="3000">
                <a:solidFill>
                  <a:srgbClr val="000000"/>
                </a:solidFill>
                <a:latin typeface="Open Sans"/>
                <a:ea typeface="Open Sans"/>
                <a:cs typeface="Open Sans"/>
                <a:sym typeface="Open Sans"/>
              </a:rPr>
              <a:t>là viết tắt của Principal Component Analysis. Ta dịch thô sang tiếng Việt là “Phân tích thành phần chính”, tạm hiểu theo cách “nông dân” của mình là ta sẽ phân tích dữ liệu và sau đó tìm ra các thành phần chính của dữ liệu để giữ lại các thành phần đó.</a:t>
            </a:r>
          </a:p>
        </p:txBody>
      </p:sp>
      <p:sp>
        <p:nvSpPr>
          <p:cNvPr name="TextBox 7" id="7"/>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13/24</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1733129" y="2607097"/>
            <a:ext cx="4857874" cy="7127162"/>
          </a:xfrm>
          <a:custGeom>
            <a:avLst/>
            <a:gdLst/>
            <a:ahLst/>
            <a:cxnLst/>
            <a:rect r="r" b="b" t="t" l="l"/>
            <a:pathLst>
              <a:path h="7127162" w="4857874">
                <a:moveTo>
                  <a:pt x="0" y="0"/>
                </a:moveTo>
                <a:lnTo>
                  <a:pt x="4857874" y="0"/>
                </a:lnTo>
                <a:lnTo>
                  <a:pt x="4857874" y="7127163"/>
                </a:lnTo>
                <a:lnTo>
                  <a:pt x="0" y="7127163"/>
                </a:lnTo>
                <a:lnTo>
                  <a:pt x="0" y="0"/>
                </a:lnTo>
                <a:close/>
              </a:path>
            </a:pathLst>
          </a:custGeom>
          <a:blipFill>
            <a:blip r:embed="rId3"/>
            <a:stretch>
              <a:fillRect l="0" t="0" r="0" b="0"/>
            </a:stretch>
          </a:blipFill>
        </p:spPr>
      </p:sp>
      <p:sp>
        <p:nvSpPr>
          <p:cNvPr name="Freeform 5" id="5"/>
          <p:cNvSpPr/>
          <p:nvPr/>
        </p:nvSpPr>
        <p:spPr>
          <a:xfrm flipH="false" flipV="false" rot="0">
            <a:off x="10655088" y="2568997"/>
            <a:ext cx="5574691" cy="2011736"/>
          </a:xfrm>
          <a:custGeom>
            <a:avLst/>
            <a:gdLst/>
            <a:ahLst/>
            <a:cxnLst/>
            <a:rect r="r" b="b" t="t" l="l"/>
            <a:pathLst>
              <a:path h="2011736" w="5574691">
                <a:moveTo>
                  <a:pt x="0" y="0"/>
                </a:moveTo>
                <a:lnTo>
                  <a:pt x="5574691" y="0"/>
                </a:lnTo>
                <a:lnTo>
                  <a:pt x="5574691" y="2011737"/>
                </a:lnTo>
                <a:lnTo>
                  <a:pt x="0" y="2011737"/>
                </a:lnTo>
                <a:lnTo>
                  <a:pt x="0" y="0"/>
                </a:lnTo>
                <a:close/>
              </a:path>
            </a:pathLst>
          </a:custGeom>
          <a:blipFill>
            <a:blip r:embed="rId4"/>
            <a:stretch>
              <a:fillRect l="0" t="0" r="0" b="0"/>
            </a:stretch>
          </a:blipFill>
        </p:spPr>
      </p:sp>
      <p:sp>
        <p:nvSpPr>
          <p:cNvPr name="TextBox 6" id="6"/>
          <p:cNvSpPr txBox="true"/>
          <p:nvPr/>
        </p:nvSpPr>
        <p:spPr>
          <a:xfrm rot="0">
            <a:off x="885527" y="19050"/>
            <a:ext cx="5147171" cy="752450"/>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4. Cài đặt mô hình</a:t>
            </a:r>
          </a:p>
        </p:txBody>
      </p:sp>
      <p:sp>
        <p:nvSpPr>
          <p:cNvPr name="TextBox 7" id="7"/>
          <p:cNvSpPr txBox="true"/>
          <p:nvPr/>
        </p:nvSpPr>
        <p:spPr>
          <a:xfrm rot="0">
            <a:off x="1243023" y="1460699"/>
            <a:ext cx="5181601" cy="457200"/>
          </a:xfrm>
          <a:prstGeom prst="rect">
            <a:avLst/>
          </a:prstGeom>
        </p:spPr>
        <p:txBody>
          <a:bodyPr anchor="t" rtlCol="false" tIns="0" lIns="0" bIns="0" rIns="0">
            <a:spAutoFit/>
          </a:bodyPr>
          <a:lstStyle/>
          <a:p>
            <a:pPr algn="l">
              <a:lnSpc>
                <a:spcPts val="3600"/>
              </a:lnSpc>
            </a:pPr>
            <a:r>
              <a:rPr lang="en-US" sz="3000" b="true">
                <a:solidFill>
                  <a:srgbClr val="000000"/>
                </a:solidFill>
                <a:latin typeface="Open Sans Bold"/>
                <a:ea typeface="Open Sans Bold"/>
                <a:cs typeface="Open Sans Bold"/>
                <a:sym typeface="Open Sans Bold"/>
              </a:rPr>
              <a:t>Tiền xử lý dữ liệu </a:t>
            </a:r>
          </a:p>
        </p:txBody>
      </p:sp>
      <p:sp>
        <p:nvSpPr>
          <p:cNvPr name="TextBox 8" id="8"/>
          <p:cNvSpPr txBox="true"/>
          <p:nvPr/>
        </p:nvSpPr>
        <p:spPr>
          <a:xfrm rot="0">
            <a:off x="1200259" y="1922546"/>
            <a:ext cx="4517708" cy="4248133"/>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Open Sans"/>
                <a:ea typeface="Open Sans"/>
                <a:cs typeface="Open Sans"/>
                <a:sym typeface="Open Sans"/>
              </a:rPr>
              <a:t>Xử lý các dữ liệu thiếu</a:t>
            </a:r>
          </a:p>
          <a:p>
            <a:pPr algn="just">
              <a:lnSpc>
                <a:spcPts val="4200"/>
              </a:lnSpc>
            </a:pPr>
          </a:p>
          <a:p>
            <a:pPr algn="just">
              <a:lnSpc>
                <a:spcPts val="4200"/>
              </a:lnSpc>
            </a:pPr>
          </a:p>
          <a:p>
            <a:pPr algn="just">
              <a:lnSpc>
                <a:spcPts val="4200"/>
              </a:lnSpc>
            </a:pPr>
          </a:p>
          <a:p>
            <a:pPr algn="just">
              <a:lnSpc>
                <a:spcPts val="4200"/>
              </a:lnSpc>
            </a:pPr>
          </a:p>
          <a:p>
            <a:pPr algn="just">
              <a:lnSpc>
                <a:spcPts val="4200"/>
              </a:lnSpc>
            </a:pPr>
          </a:p>
          <a:p>
            <a:pPr algn="just">
              <a:lnSpc>
                <a:spcPts val="4200"/>
              </a:lnSpc>
            </a:pPr>
          </a:p>
          <a:p>
            <a:pPr algn="just">
              <a:lnSpc>
                <a:spcPts val="4200"/>
              </a:lnSpc>
              <a:spcBef>
                <a:spcPct val="0"/>
              </a:spcBef>
            </a:pPr>
          </a:p>
        </p:txBody>
      </p:sp>
      <p:sp>
        <p:nvSpPr>
          <p:cNvPr name="TextBox 9" id="9"/>
          <p:cNvSpPr txBox="true"/>
          <p:nvPr/>
        </p:nvSpPr>
        <p:spPr>
          <a:xfrm rot="0">
            <a:off x="10472134" y="1860749"/>
            <a:ext cx="4534376" cy="514350"/>
          </a:xfrm>
          <a:prstGeom prst="rect">
            <a:avLst/>
          </a:prstGeom>
        </p:spPr>
        <p:txBody>
          <a:bodyPr anchor="t" rtlCol="false" tIns="0" lIns="0" bIns="0" rIns="0">
            <a:spAutoFit/>
          </a:bodyPr>
          <a:lstStyle/>
          <a:p>
            <a:pPr algn="ctr" marL="647700" indent="-323850" lvl="1">
              <a:lnSpc>
                <a:spcPts val="4200"/>
              </a:lnSpc>
              <a:buFont typeface="Arial"/>
              <a:buChar char="•"/>
            </a:pPr>
            <a:r>
              <a:rPr lang="en-US" sz="3000">
                <a:solidFill>
                  <a:srgbClr val="000000"/>
                </a:solidFill>
                <a:latin typeface="Open Sans"/>
                <a:ea typeface="Open Sans"/>
                <a:cs typeface="Open Sans"/>
                <a:sym typeface="Open Sans"/>
              </a:rPr>
              <a:t>Xử lý dữ liệu trùng lặp</a:t>
            </a:r>
          </a:p>
        </p:txBody>
      </p:sp>
      <p:sp>
        <p:nvSpPr>
          <p:cNvPr name="TextBox 10" id="10"/>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14/24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3531629" y="3626879"/>
            <a:ext cx="11205691" cy="5602846"/>
          </a:xfrm>
          <a:custGeom>
            <a:avLst/>
            <a:gdLst/>
            <a:ahLst/>
            <a:cxnLst/>
            <a:rect r="r" b="b" t="t" l="l"/>
            <a:pathLst>
              <a:path h="5602846" w="11205691">
                <a:moveTo>
                  <a:pt x="0" y="0"/>
                </a:moveTo>
                <a:lnTo>
                  <a:pt x="11205692" y="0"/>
                </a:lnTo>
                <a:lnTo>
                  <a:pt x="11205692" y="5602846"/>
                </a:lnTo>
                <a:lnTo>
                  <a:pt x="0" y="5602846"/>
                </a:lnTo>
                <a:lnTo>
                  <a:pt x="0" y="0"/>
                </a:lnTo>
                <a:close/>
              </a:path>
            </a:pathLst>
          </a:custGeom>
          <a:blipFill>
            <a:blip r:embed="rId3"/>
            <a:stretch>
              <a:fillRect l="0" t="0" r="0" b="0"/>
            </a:stretch>
          </a:blipFill>
        </p:spPr>
      </p:sp>
      <p:sp>
        <p:nvSpPr>
          <p:cNvPr name="TextBox 5" id="5"/>
          <p:cNvSpPr txBox="true"/>
          <p:nvPr/>
        </p:nvSpPr>
        <p:spPr>
          <a:xfrm rot="0">
            <a:off x="885527" y="19050"/>
            <a:ext cx="5147171" cy="752450"/>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4. Cài đặt mô hình</a:t>
            </a:r>
          </a:p>
        </p:txBody>
      </p:sp>
      <p:sp>
        <p:nvSpPr>
          <p:cNvPr name="TextBox 6" id="6"/>
          <p:cNvSpPr txBox="true"/>
          <p:nvPr/>
        </p:nvSpPr>
        <p:spPr>
          <a:xfrm rot="0">
            <a:off x="885527" y="1420115"/>
            <a:ext cx="5181601" cy="457200"/>
          </a:xfrm>
          <a:prstGeom prst="rect">
            <a:avLst/>
          </a:prstGeom>
        </p:spPr>
        <p:txBody>
          <a:bodyPr anchor="t" rtlCol="false" tIns="0" lIns="0" bIns="0" rIns="0">
            <a:spAutoFit/>
          </a:bodyPr>
          <a:lstStyle/>
          <a:p>
            <a:pPr algn="l">
              <a:lnSpc>
                <a:spcPts val="3600"/>
              </a:lnSpc>
            </a:pPr>
            <a:r>
              <a:rPr lang="en-US" sz="3000" b="true">
                <a:solidFill>
                  <a:srgbClr val="000000"/>
                </a:solidFill>
                <a:latin typeface="Open Sans Bold"/>
                <a:ea typeface="Open Sans Bold"/>
                <a:cs typeface="Open Sans Bold"/>
                <a:sym typeface="Open Sans Bold"/>
              </a:rPr>
              <a:t>Tiền xử lý dữ liệu </a:t>
            </a:r>
          </a:p>
        </p:txBody>
      </p:sp>
      <p:sp>
        <p:nvSpPr>
          <p:cNvPr name="TextBox 7" id="7"/>
          <p:cNvSpPr txBox="true"/>
          <p:nvPr/>
        </p:nvSpPr>
        <p:spPr>
          <a:xfrm rot="0">
            <a:off x="885527" y="2128722"/>
            <a:ext cx="15901988" cy="1581133"/>
          </a:xfrm>
          <a:prstGeom prst="rect">
            <a:avLst/>
          </a:prstGeom>
        </p:spPr>
        <p:txBody>
          <a:bodyPr anchor="t" rtlCol="false" tIns="0" lIns="0" bIns="0" rIns="0">
            <a:spAutoFit/>
          </a:bodyPr>
          <a:lstStyle/>
          <a:p>
            <a:pPr algn="just">
              <a:lnSpc>
                <a:spcPts val="4200"/>
              </a:lnSpc>
            </a:pPr>
            <a:r>
              <a:rPr lang="en-US" sz="3000">
                <a:solidFill>
                  <a:srgbClr val="000000"/>
                </a:solidFill>
                <a:latin typeface="Open Sans"/>
                <a:ea typeface="Open Sans"/>
                <a:cs typeface="Open Sans"/>
                <a:sym typeface="Open Sans"/>
              </a:rPr>
              <a:t>Xử lý giá trị ngoại lai (outliers) bằng phương pháp IQR (Interquartile Range):</a:t>
            </a:r>
          </a:p>
          <a:p>
            <a:pPr algn="just">
              <a:lnSpc>
                <a:spcPts val="4200"/>
              </a:lnSpc>
            </a:pPr>
            <a:r>
              <a:rPr lang="en-US" sz="3000">
                <a:solidFill>
                  <a:srgbClr val="000000"/>
                </a:solidFill>
                <a:latin typeface="Open Sans"/>
                <a:ea typeface="Open Sans"/>
                <a:cs typeface="Open Sans"/>
                <a:sym typeface="Open Sans"/>
              </a:rPr>
              <a:t>IQR: là một phép đo thống kê đặc trưng cho sự phân tán và biến thiên của một tập dữ liệu</a:t>
            </a:r>
          </a:p>
          <a:p>
            <a:pPr algn="just">
              <a:lnSpc>
                <a:spcPts val="4200"/>
              </a:lnSpc>
              <a:spcBef>
                <a:spcPct val="0"/>
              </a:spcBef>
            </a:pPr>
          </a:p>
        </p:txBody>
      </p:sp>
      <p:sp>
        <p:nvSpPr>
          <p:cNvPr name="TextBox 8" id="8"/>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15/24</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3263453" y="4772881"/>
            <a:ext cx="11301259" cy="4435744"/>
          </a:xfrm>
          <a:custGeom>
            <a:avLst/>
            <a:gdLst/>
            <a:ahLst/>
            <a:cxnLst/>
            <a:rect r="r" b="b" t="t" l="l"/>
            <a:pathLst>
              <a:path h="4435744" w="11301259">
                <a:moveTo>
                  <a:pt x="0" y="0"/>
                </a:moveTo>
                <a:lnTo>
                  <a:pt x="11301259" y="0"/>
                </a:lnTo>
                <a:lnTo>
                  <a:pt x="11301259" y="4435744"/>
                </a:lnTo>
                <a:lnTo>
                  <a:pt x="0" y="4435744"/>
                </a:lnTo>
                <a:lnTo>
                  <a:pt x="0" y="0"/>
                </a:lnTo>
                <a:close/>
              </a:path>
            </a:pathLst>
          </a:custGeom>
          <a:blipFill>
            <a:blip r:embed="rId3"/>
            <a:stretch>
              <a:fillRect l="0" t="0" r="0" b="0"/>
            </a:stretch>
          </a:blipFill>
        </p:spPr>
      </p:sp>
      <p:sp>
        <p:nvSpPr>
          <p:cNvPr name="TextBox 5" id="5"/>
          <p:cNvSpPr txBox="true"/>
          <p:nvPr/>
        </p:nvSpPr>
        <p:spPr>
          <a:xfrm rot="0">
            <a:off x="885527" y="19050"/>
            <a:ext cx="5147171" cy="752450"/>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4. Cài đặt mô hình</a:t>
            </a:r>
          </a:p>
        </p:txBody>
      </p:sp>
      <p:sp>
        <p:nvSpPr>
          <p:cNvPr name="TextBox 6" id="6"/>
          <p:cNvSpPr txBox="true"/>
          <p:nvPr/>
        </p:nvSpPr>
        <p:spPr>
          <a:xfrm rot="0">
            <a:off x="885527" y="1420115"/>
            <a:ext cx="5181601" cy="457200"/>
          </a:xfrm>
          <a:prstGeom prst="rect">
            <a:avLst/>
          </a:prstGeom>
        </p:spPr>
        <p:txBody>
          <a:bodyPr anchor="t" rtlCol="false" tIns="0" lIns="0" bIns="0" rIns="0">
            <a:spAutoFit/>
          </a:bodyPr>
          <a:lstStyle/>
          <a:p>
            <a:pPr algn="l">
              <a:lnSpc>
                <a:spcPts val="3600"/>
              </a:lnSpc>
            </a:pPr>
            <a:r>
              <a:rPr lang="en-US" sz="3000" b="true">
                <a:solidFill>
                  <a:srgbClr val="000000"/>
                </a:solidFill>
                <a:latin typeface="Open Sans Bold"/>
                <a:ea typeface="Open Sans Bold"/>
                <a:cs typeface="Open Sans Bold"/>
                <a:sym typeface="Open Sans Bold"/>
              </a:rPr>
              <a:t>Tiền xử lý dữ liệu </a:t>
            </a:r>
          </a:p>
        </p:txBody>
      </p:sp>
      <p:sp>
        <p:nvSpPr>
          <p:cNvPr name="TextBox 7" id="7"/>
          <p:cNvSpPr txBox="true"/>
          <p:nvPr/>
        </p:nvSpPr>
        <p:spPr>
          <a:xfrm rot="0">
            <a:off x="885527" y="2128722"/>
            <a:ext cx="4851102" cy="1581133"/>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Open Sans"/>
                <a:ea typeface="Open Sans"/>
                <a:cs typeface="Open Sans"/>
                <a:sym typeface="Open Sans"/>
              </a:rPr>
              <a:t>Xử lý dữ liệu categ</a:t>
            </a:r>
            <a:r>
              <a:rPr lang="en-US" sz="3000">
                <a:solidFill>
                  <a:srgbClr val="000000"/>
                </a:solidFill>
                <a:latin typeface="Open Sans"/>
                <a:ea typeface="Open Sans"/>
                <a:cs typeface="Open Sans"/>
                <a:sym typeface="Open Sans"/>
              </a:rPr>
              <a:t>orical</a:t>
            </a:r>
          </a:p>
          <a:p>
            <a:pPr algn="just">
              <a:lnSpc>
                <a:spcPts val="4200"/>
              </a:lnSpc>
            </a:pPr>
          </a:p>
          <a:p>
            <a:pPr algn="just">
              <a:lnSpc>
                <a:spcPts val="4200"/>
              </a:lnSpc>
              <a:spcBef>
                <a:spcPct val="0"/>
              </a:spcBef>
            </a:pPr>
          </a:p>
        </p:txBody>
      </p:sp>
      <p:sp>
        <p:nvSpPr>
          <p:cNvPr name="TextBox 8" id="8"/>
          <p:cNvSpPr txBox="true"/>
          <p:nvPr/>
        </p:nvSpPr>
        <p:spPr>
          <a:xfrm rot="0">
            <a:off x="1028700" y="2315465"/>
            <a:ext cx="16230600" cy="2114516"/>
          </a:xfrm>
          <a:prstGeom prst="rect">
            <a:avLst/>
          </a:prstGeom>
        </p:spPr>
        <p:txBody>
          <a:bodyPr anchor="t" rtlCol="false" tIns="0" lIns="0" bIns="0" rIns="0">
            <a:spAutoFit/>
          </a:bodyPr>
          <a:lstStyle/>
          <a:p>
            <a:pPr algn="just">
              <a:lnSpc>
                <a:spcPts val="4200"/>
              </a:lnSpc>
              <a:spcBef>
                <a:spcPct val="0"/>
              </a:spcBef>
            </a:pPr>
          </a:p>
          <a:p>
            <a:pPr algn="just">
              <a:lnSpc>
                <a:spcPts val="4200"/>
              </a:lnSpc>
              <a:spcBef>
                <a:spcPct val="0"/>
              </a:spcBef>
            </a:pPr>
            <a:r>
              <a:rPr lang="en-US" sz="3000">
                <a:solidFill>
                  <a:srgbClr val="000000"/>
                </a:solidFill>
                <a:latin typeface="Open Sans"/>
                <a:ea typeface="Open Sans"/>
                <a:cs typeface="Open Sans"/>
                <a:sym typeface="Open Sans"/>
              </a:rPr>
              <a:t>One-Hot encoding: là một kỹ thuật phổ biến để xử lý các biến phân loại . Nó chỉ đơn giản là tạo ra các đặc trưng bổ sung dựa trên số lượng giá trị duy nhất trong đặc trưng phân loại. Mỗi giá trị duy nhất trong danh mục sẽ được thêm vào như một đặc trưng.</a:t>
            </a:r>
          </a:p>
        </p:txBody>
      </p:sp>
      <p:sp>
        <p:nvSpPr>
          <p:cNvPr name="TextBox 9" id="9"/>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16/24</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5684640" y="3953521"/>
            <a:ext cx="7766148" cy="4368458"/>
          </a:xfrm>
          <a:custGeom>
            <a:avLst/>
            <a:gdLst/>
            <a:ahLst/>
            <a:cxnLst/>
            <a:rect r="r" b="b" t="t" l="l"/>
            <a:pathLst>
              <a:path h="4368458" w="7766148">
                <a:moveTo>
                  <a:pt x="0" y="0"/>
                </a:moveTo>
                <a:lnTo>
                  <a:pt x="7766147" y="0"/>
                </a:lnTo>
                <a:lnTo>
                  <a:pt x="7766147" y="4368458"/>
                </a:lnTo>
                <a:lnTo>
                  <a:pt x="0" y="4368458"/>
                </a:lnTo>
                <a:lnTo>
                  <a:pt x="0" y="0"/>
                </a:lnTo>
                <a:close/>
              </a:path>
            </a:pathLst>
          </a:custGeom>
          <a:blipFill>
            <a:blip r:embed="rId3"/>
            <a:stretch>
              <a:fillRect l="0" t="0" r="0" b="0"/>
            </a:stretch>
          </a:blipFill>
        </p:spPr>
      </p:sp>
      <p:sp>
        <p:nvSpPr>
          <p:cNvPr name="TextBox 5" id="5"/>
          <p:cNvSpPr txBox="true"/>
          <p:nvPr/>
        </p:nvSpPr>
        <p:spPr>
          <a:xfrm rot="0">
            <a:off x="885527" y="19050"/>
            <a:ext cx="5147171" cy="752450"/>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4. Cài đặt mô hình</a:t>
            </a:r>
          </a:p>
        </p:txBody>
      </p:sp>
      <p:sp>
        <p:nvSpPr>
          <p:cNvPr name="TextBox 6" id="6"/>
          <p:cNvSpPr txBox="true"/>
          <p:nvPr/>
        </p:nvSpPr>
        <p:spPr>
          <a:xfrm rot="0">
            <a:off x="885527" y="1420115"/>
            <a:ext cx="5181601" cy="457200"/>
          </a:xfrm>
          <a:prstGeom prst="rect">
            <a:avLst/>
          </a:prstGeom>
        </p:spPr>
        <p:txBody>
          <a:bodyPr anchor="t" rtlCol="false" tIns="0" lIns="0" bIns="0" rIns="0">
            <a:spAutoFit/>
          </a:bodyPr>
          <a:lstStyle/>
          <a:p>
            <a:pPr algn="l">
              <a:lnSpc>
                <a:spcPts val="3600"/>
              </a:lnSpc>
            </a:pPr>
            <a:r>
              <a:rPr lang="en-US" sz="3000" b="true">
                <a:solidFill>
                  <a:srgbClr val="000000"/>
                </a:solidFill>
                <a:latin typeface="Open Sans Bold"/>
                <a:ea typeface="Open Sans Bold"/>
                <a:cs typeface="Open Sans Bold"/>
                <a:sym typeface="Open Sans Bold"/>
              </a:rPr>
              <a:t>Tiền xử lý dữ liệu </a:t>
            </a:r>
          </a:p>
        </p:txBody>
      </p:sp>
      <p:sp>
        <p:nvSpPr>
          <p:cNvPr name="TextBox 7" id="7"/>
          <p:cNvSpPr txBox="true"/>
          <p:nvPr/>
        </p:nvSpPr>
        <p:spPr>
          <a:xfrm rot="0">
            <a:off x="885527" y="2128722"/>
            <a:ext cx="16373773" cy="1581133"/>
          </a:xfrm>
          <a:prstGeom prst="rect">
            <a:avLst/>
          </a:prstGeom>
        </p:spPr>
        <p:txBody>
          <a:bodyPr anchor="t" rtlCol="false" tIns="0" lIns="0" bIns="0" rIns="0">
            <a:spAutoFit/>
          </a:bodyPr>
          <a:lstStyle/>
          <a:p>
            <a:pPr algn="just">
              <a:lnSpc>
                <a:spcPts val="4200"/>
              </a:lnSpc>
            </a:pPr>
            <a:r>
              <a:rPr lang="en-US" sz="3000">
                <a:solidFill>
                  <a:srgbClr val="000000"/>
                </a:solidFill>
                <a:latin typeface="Open Sans"/>
                <a:ea typeface="Open Sans"/>
                <a:cs typeface="Open Sans"/>
                <a:sym typeface="Open Sans"/>
              </a:rPr>
              <a:t>Feature Scalling:</a:t>
            </a:r>
          </a:p>
          <a:p>
            <a:pPr algn="just">
              <a:lnSpc>
                <a:spcPts val="4200"/>
              </a:lnSpc>
              <a:spcBef>
                <a:spcPct val="0"/>
              </a:spcBef>
            </a:pPr>
            <a:r>
              <a:rPr lang="en-US" sz="3000">
                <a:solidFill>
                  <a:srgbClr val="000000"/>
                </a:solidFill>
                <a:latin typeface="Open Sans"/>
                <a:ea typeface="Open Sans"/>
                <a:cs typeface="Open Sans"/>
                <a:sym typeface="Open Sans"/>
              </a:rPr>
              <a:t>Standardization: là một kỹ thuật điều chỉnh trong đó các giá trị trung bình bằng 0 với độ lệch chuẩn bằng một. </a:t>
            </a:r>
          </a:p>
        </p:txBody>
      </p:sp>
      <p:sp>
        <p:nvSpPr>
          <p:cNvPr name="TextBox 8" id="8"/>
          <p:cNvSpPr txBox="true"/>
          <p:nvPr/>
        </p:nvSpPr>
        <p:spPr>
          <a:xfrm rot="0">
            <a:off x="16220374"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17/24</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885527" y="2263604"/>
            <a:ext cx="7480439" cy="6994696"/>
          </a:xfrm>
          <a:custGeom>
            <a:avLst/>
            <a:gdLst/>
            <a:ahLst/>
            <a:cxnLst/>
            <a:rect r="r" b="b" t="t" l="l"/>
            <a:pathLst>
              <a:path h="6994696" w="7480439">
                <a:moveTo>
                  <a:pt x="0" y="0"/>
                </a:moveTo>
                <a:lnTo>
                  <a:pt x="7480439" y="0"/>
                </a:lnTo>
                <a:lnTo>
                  <a:pt x="7480439" y="6994696"/>
                </a:lnTo>
                <a:lnTo>
                  <a:pt x="0" y="6994696"/>
                </a:lnTo>
                <a:lnTo>
                  <a:pt x="0" y="0"/>
                </a:lnTo>
                <a:close/>
              </a:path>
            </a:pathLst>
          </a:custGeom>
          <a:blipFill>
            <a:blip r:embed="rId3"/>
            <a:stretch>
              <a:fillRect l="0" t="0" r="0" b="0"/>
            </a:stretch>
          </a:blipFill>
        </p:spPr>
      </p:sp>
      <p:sp>
        <p:nvSpPr>
          <p:cNvPr name="Freeform 5" id="5"/>
          <p:cNvSpPr/>
          <p:nvPr/>
        </p:nvSpPr>
        <p:spPr>
          <a:xfrm flipH="false" flipV="false" rot="0">
            <a:off x="9353550" y="2757059"/>
            <a:ext cx="7087348" cy="5534882"/>
          </a:xfrm>
          <a:custGeom>
            <a:avLst/>
            <a:gdLst/>
            <a:ahLst/>
            <a:cxnLst/>
            <a:rect r="r" b="b" t="t" l="l"/>
            <a:pathLst>
              <a:path h="5534882" w="7087348">
                <a:moveTo>
                  <a:pt x="0" y="0"/>
                </a:moveTo>
                <a:lnTo>
                  <a:pt x="7087348" y="0"/>
                </a:lnTo>
                <a:lnTo>
                  <a:pt x="7087348" y="5534882"/>
                </a:lnTo>
                <a:lnTo>
                  <a:pt x="0" y="5534882"/>
                </a:lnTo>
                <a:lnTo>
                  <a:pt x="0" y="0"/>
                </a:lnTo>
                <a:close/>
              </a:path>
            </a:pathLst>
          </a:custGeom>
          <a:blipFill>
            <a:blip r:embed="rId4"/>
            <a:stretch>
              <a:fillRect l="0" t="0" r="0" b="0"/>
            </a:stretch>
          </a:blipFill>
        </p:spPr>
      </p:sp>
      <p:sp>
        <p:nvSpPr>
          <p:cNvPr name="TextBox 6" id="6"/>
          <p:cNvSpPr txBox="true"/>
          <p:nvPr/>
        </p:nvSpPr>
        <p:spPr>
          <a:xfrm rot="0">
            <a:off x="885527" y="19050"/>
            <a:ext cx="5147171" cy="752450"/>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4. Cài đặt mô hình</a:t>
            </a:r>
          </a:p>
        </p:txBody>
      </p:sp>
      <p:sp>
        <p:nvSpPr>
          <p:cNvPr name="TextBox 7" id="7"/>
          <p:cNvSpPr txBox="true"/>
          <p:nvPr/>
        </p:nvSpPr>
        <p:spPr>
          <a:xfrm rot="0">
            <a:off x="944145" y="1455420"/>
            <a:ext cx="5181601" cy="914400"/>
          </a:xfrm>
          <a:prstGeom prst="rect">
            <a:avLst/>
          </a:prstGeom>
        </p:spPr>
        <p:txBody>
          <a:bodyPr anchor="t" rtlCol="false" tIns="0" lIns="0" bIns="0" rIns="0">
            <a:spAutoFit/>
          </a:bodyPr>
          <a:lstStyle/>
          <a:p>
            <a:pPr algn="l">
              <a:lnSpc>
                <a:spcPts val="3600"/>
              </a:lnSpc>
            </a:pPr>
            <a:r>
              <a:rPr lang="en-US" sz="3000">
                <a:solidFill>
                  <a:srgbClr val="000000"/>
                </a:solidFill>
                <a:latin typeface="Open Sans"/>
                <a:ea typeface="Open Sans"/>
                <a:cs typeface="Open Sans"/>
                <a:sym typeface="Open Sans"/>
              </a:rPr>
              <a:t>Phương pháp Elbow Method</a:t>
            </a:r>
          </a:p>
          <a:p>
            <a:pPr algn="l">
              <a:lnSpc>
                <a:spcPts val="3600"/>
              </a:lnSpc>
            </a:pPr>
          </a:p>
        </p:txBody>
      </p:sp>
      <p:sp>
        <p:nvSpPr>
          <p:cNvPr name="TextBox 8" id="8"/>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18/24</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944145" y="2496072"/>
            <a:ext cx="6610244" cy="5294855"/>
          </a:xfrm>
          <a:custGeom>
            <a:avLst/>
            <a:gdLst/>
            <a:ahLst/>
            <a:cxnLst/>
            <a:rect r="r" b="b" t="t" l="l"/>
            <a:pathLst>
              <a:path h="5294855" w="6610244">
                <a:moveTo>
                  <a:pt x="0" y="0"/>
                </a:moveTo>
                <a:lnTo>
                  <a:pt x="6610244" y="0"/>
                </a:lnTo>
                <a:lnTo>
                  <a:pt x="6610244" y="5294856"/>
                </a:lnTo>
                <a:lnTo>
                  <a:pt x="0" y="5294856"/>
                </a:lnTo>
                <a:lnTo>
                  <a:pt x="0" y="0"/>
                </a:lnTo>
                <a:close/>
              </a:path>
            </a:pathLst>
          </a:custGeom>
          <a:blipFill>
            <a:blip r:embed="rId3"/>
            <a:stretch>
              <a:fillRect l="0" t="0" r="0" b="0"/>
            </a:stretch>
          </a:blipFill>
        </p:spPr>
      </p:sp>
      <p:sp>
        <p:nvSpPr>
          <p:cNvPr name="Freeform 5" id="5"/>
          <p:cNvSpPr/>
          <p:nvPr/>
        </p:nvSpPr>
        <p:spPr>
          <a:xfrm flipH="false" flipV="false" rot="0">
            <a:off x="9272822" y="1912620"/>
            <a:ext cx="7027751" cy="6545784"/>
          </a:xfrm>
          <a:custGeom>
            <a:avLst/>
            <a:gdLst/>
            <a:ahLst/>
            <a:cxnLst/>
            <a:rect r="r" b="b" t="t" l="l"/>
            <a:pathLst>
              <a:path h="6545784" w="7027751">
                <a:moveTo>
                  <a:pt x="0" y="0"/>
                </a:moveTo>
                <a:lnTo>
                  <a:pt x="7027752" y="0"/>
                </a:lnTo>
                <a:lnTo>
                  <a:pt x="7027752" y="6545784"/>
                </a:lnTo>
                <a:lnTo>
                  <a:pt x="0" y="6545784"/>
                </a:lnTo>
                <a:lnTo>
                  <a:pt x="0" y="0"/>
                </a:lnTo>
                <a:close/>
              </a:path>
            </a:pathLst>
          </a:custGeom>
          <a:blipFill>
            <a:blip r:embed="rId4"/>
            <a:stretch>
              <a:fillRect l="0" t="0" r="0" b="0"/>
            </a:stretch>
          </a:blipFill>
        </p:spPr>
      </p:sp>
      <p:sp>
        <p:nvSpPr>
          <p:cNvPr name="TextBox 6" id="6"/>
          <p:cNvSpPr txBox="true"/>
          <p:nvPr/>
        </p:nvSpPr>
        <p:spPr>
          <a:xfrm rot="0">
            <a:off x="885527" y="19050"/>
            <a:ext cx="5147171" cy="828675"/>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4. Cài đặt mô hình</a:t>
            </a:r>
          </a:p>
        </p:txBody>
      </p:sp>
      <p:sp>
        <p:nvSpPr>
          <p:cNvPr name="TextBox 7" id="7"/>
          <p:cNvSpPr txBox="true"/>
          <p:nvPr/>
        </p:nvSpPr>
        <p:spPr>
          <a:xfrm rot="0">
            <a:off x="944145" y="1455420"/>
            <a:ext cx="5384602" cy="457200"/>
          </a:xfrm>
          <a:prstGeom prst="rect">
            <a:avLst/>
          </a:prstGeom>
        </p:spPr>
        <p:txBody>
          <a:bodyPr anchor="t" rtlCol="false" tIns="0" lIns="0" bIns="0" rIns="0">
            <a:spAutoFit/>
          </a:bodyPr>
          <a:lstStyle/>
          <a:p>
            <a:pPr algn="l">
              <a:lnSpc>
                <a:spcPts val="3600"/>
              </a:lnSpc>
            </a:pPr>
            <a:r>
              <a:rPr lang="en-US" sz="3000">
                <a:solidFill>
                  <a:srgbClr val="000000"/>
                </a:solidFill>
                <a:latin typeface="Open Sans"/>
                <a:ea typeface="Open Sans"/>
                <a:cs typeface="Open Sans"/>
                <a:sym typeface="Open Sans"/>
              </a:rPr>
              <a:t>Phương pháp Silhouette Score</a:t>
            </a:r>
          </a:p>
        </p:txBody>
      </p:sp>
      <p:sp>
        <p:nvSpPr>
          <p:cNvPr name="TextBox 8" id="8"/>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19/24</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885527" y="2359923"/>
            <a:ext cx="5922504" cy="5567153"/>
          </a:xfrm>
          <a:custGeom>
            <a:avLst/>
            <a:gdLst/>
            <a:ahLst/>
            <a:cxnLst/>
            <a:rect r="r" b="b" t="t" l="l"/>
            <a:pathLst>
              <a:path h="5567153" w="5922504">
                <a:moveTo>
                  <a:pt x="0" y="0"/>
                </a:moveTo>
                <a:lnTo>
                  <a:pt x="5922504" y="0"/>
                </a:lnTo>
                <a:lnTo>
                  <a:pt x="5922504" y="5567154"/>
                </a:lnTo>
                <a:lnTo>
                  <a:pt x="0" y="5567154"/>
                </a:lnTo>
                <a:lnTo>
                  <a:pt x="0" y="0"/>
                </a:lnTo>
                <a:close/>
              </a:path>
            </a:pathLst>
          </a:custGeom>
          <a:blipFill>
            <a:blip r:embed="rId3"/>
            <a:stretch>
              <a:fillRect l="0" t="0" r="0" b="0"/>
            </a:stretch>
          </a:blipFill>
        </p:spPr>
      </p:sp>
      <p:sp>
        <p:nvSpPr>
          <p:cNvPr name="Freeform 5" id="5"/>
          <p:cNvSpPr/>
          <p:nvPr/>
        </p:nvSpPr>
        <p:spPr>
          <a:xfrm flipH="false" flipV="false" rot="0">
            <a:off x="8122481" y="1788248"/>
            <a:ext cx="7586818" cy="7009691"/>
          </a:xfrm>
          <a:custGeom>
            <a:avLst/>
            <a:gdLst/>
            <a:ahLst/>
            <a:cxnLst/>
            <a:rect r="r" b="b" t="t" l="l"/>
            <a:pathLst>
              <a:path h="7009691" w="7586818">
                <a:moveTo>
                  <a:pt x="0" y="0"/>
                </a:moveTo>
                <a:lnTo>
                  <a:pt x="7586818" y="0"/>
                </a:lnTo>
                <a:lnTo>
                  <a:pt x="7586818" y="7009691"/>
                </a:lnTo>
                <a:lnTo>
                  <a:pt x="0" y="7009691"/>
                </a:lnTo>
                <a:lnTo>
                  <a:pt x="0" y="0"/>
                </a:lnTo>
                <a:close/>
              </a:path>
            </a:pathLst>
          </a:custGeom>
          <a:blipFill>
            <a:blip r:embed="rId4"/>
            <a:stretch>
              <a:fillRect l="0" t="0" r="0" b="0"/>
            </a:stretch>
          </a:blipFill>
        </p:spPr>
      </p:sp>
      <p:sp>
        <p:nvSpPr>
          <p:cNvPr name="TextBox 6" id="6"/>
          <p:cNvSpPr txBox="true"/>
          <p:nvPr/>
        </p:nvSpPr>
        <p:spPr>
          <a:xfrm rot="0">
            <a:off x="885527" y="19050"/>
            <a:ext cx="5147171" cy="828675"/>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4. Cài đặt mô hình</a:t>
            </a:r>
          </a:p>
        </p:txBody>
      </p:sp>
      <p:sp>
        <p:nvSpPr>
          <p:cNvPr name="TextBox 7" id="7"/>
          <p:cNvSpPr txBox="true"/>
          <p:nvPr/>
        </p:nvSpPr>
        <p:spPr>
          <a:xfrm rot="0">
            <a:off x="944145" y="1455420"/>
            <a:ext cx="5384602" cy="457200"/>
          </a:xfrm>
          <a:prstGeom prst="rect">
            <a:avLst/>
          </a:prstGeom>
        </p:spPr>
        <p:txBody>
          <a:bodyPr anchor="t" rtlCol="false" tIns="0" lIns="0" bIns="0" rIns="0">
            <a:spAutoFit/>
          </a:bodyPr>
          <a:lstStyle/>
          <a:p>
            <a:pPr algn="l">
              <a:lnSpc>
                <a:spcPts val="3600"/>
              </a:lnSpc>
            </a:pPr>
            <a:r>
              <a:rPr lang="en-US" sz="3000">
                <a:solidFill>
                  <a:srgbClr val="000000"/>
                </a:solidFill>
                <a:latin typeface="Open Sans"/>
                <a:ea typeface="Open Sans"/>
                <a:cs typeface="Open Sans"/>
                <a:sym typeface="Open Sans"/>
              </a:rPr>
              <a:t>Phương pháp Silhouette Score</a:t>
            </a:r>
          </a:p>
        </p:txBody>
      </p:sp>
      <p:sp>
        <p:nvSpPr>
          <p:cNvPr name="TextBox 8" id="8"/>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20/24</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1617554" y="2028645"/>
            <a:ext cx="8393631" cy="1005487"/>
          </a:xfrm>
          <a:custGeom>
            <a:avLst/>
            <a:gdLst/>
            <a:ahLst/>
            <a:cxnLst/>
            <a:rect r="r" b="b" t="t" l="l"/>
            <a:pathLst>
              <a:path h="1005487" w="8393631">
                <a:moveTo>
                  <a:pt x="0" y="0"/>
                </a:moveTo>
                <a:lnTo>
                  <a:pt x="8393632" y="0"/>
                </a:lnTo>
                <a:lnTo>
                  <a:pt x="8393632" y="1005488"/>
                </a:lnTo>
                <a:lnTo>
                  <a:pt x="0" y="1005488"/>
                </a:lnTo>
                <a:lnTo>
                  <a:pt x="0" y="0"/>
                </a:lnTo>
                <a:close/>
              </a:path>
            </a:pathLst>
          </a:custGeom>
          <a:blipFill>
            <a:blip r:embed="rId3"/>
            <a:stretch>
              <a:fillRect l="0" t="0" r="0" b="0"/>
            </a:stretch>
          </a:blipFill>
        </p:spPr>
      </p:sp>
      <p:sp>
        <p:nvSpPr>
          <p:cNvPr name="Freeform 5" id="5"/>
          <p:cNvSpPr/>
          <p:nvPr/>
        </p:nvSpPr>
        <p:spPr>
          <a:xfrm flipH="false" flipV="false" rot="0">
            <a:off x="1617554" y="4356041"/>
            <a:ext cx="9722940" cy="1164727"/>
          </a:xfrm>
          <a:custGeom>
            <a:avLst/>
            <a:gdLst/>
            <a:ahLst/>
            <a:cxnLst/>
            <a:rect r="r" b="b" t="t" l="l"/>
            <a:pathLst>
              <a:path h="1164727" w="9722940">
                <a:moveTo>
                  <a:pt x="0" y="0"/>
                </a:moveTo>
                <a:lnTo>
                  <a:pt x="9722941" y="0"/>
                </a:lnTo>
                <a:lnTo>
                  <a:pt x="9722941" y="1164727"/>
                </a:lnTo>
                <a:lnTo>
                  <a:pt x="0" y="1164727"/>
                </a:lnTo>
                <a:lnTo>
                  <a:pt x="0" y="0"/>
                </a:lnTo>
                <a:close/>
              </a:path>
            </a:pathLst>
          </a:custGeom>
          <a:blipFill>
            <a:blip r:embed="rId3"/>
            <a:stretch>
              <a:fillRect l="0" t="0" r="0" b="0"/>
            </a:stretch>
          </a:blipFill>
        </p:spPr>
      </p:sp>
      <p:sp>
        <p:nvSpPr>
          <p:cNvPr name="TextBox 6" id="6"/>
          <p:cNvSpPr txBox="true"/>
          <p:nvPr/>
        </p:nvSpPr>
        <p:spPr>
          <a:xfrm rot="0">
            <a:off x="885527" y="19050"/>
            <a:ext cx="5147171" cy="828675"/>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4. Cài đặt mô hình</a:t>
            </a:r>
          </a:p>
        </p:txBody>
      </p:sp>
      <p:sp>
        <p:nvSpPr>
          <p:cNvPr name="TextBox 7" id="7"/>
          <p:cNvSpPr txBox="true"/>
          <p:nvPr/>
        </p:nvSpPr>
        <p:spPr>
          <a:xfrm rot="0">
            <a:off x="1269892" y="3538958"/>
            <a:ext cx="1316236" cy="495290"/>
          </a:xfrm>
          <a:prstGeom prst="rect">
            <a:avLst/>
          </a:prstGeom>
        </p:spPr>
        <p:txBody>
          <a:bodyPr anchor="t" rtlCol="false" tIns="0" lIns="0" bIns="0" rIns="0">
            <a:spAutoFit/>
          </a:bodyPr>
          <a:lstStyle/>
          <a:p>
            <a:pPr algn="ctr" marL="647493" indent="-323746" lvl="1">
              <a:lnSpc>
                <a:spcPts val="4198"/>
              </a:lnSpc>
              <a:buFont typeface="Arial"/>
              <a:buChar char="•"/>
            </a:pPr>
            <a:r>
              <a:rPr lang="en-US" sz="2999">
                <a:solidFill>
                  <a:srgbClr val="000000"/>
                </a:solidFill>
                <a:latin typeface="Open Sans"/>
                <a:ea typeface="Open Sans"/>
                <a:cs typeface="Open Sans"/>
                <a:sym typeface="Open Sans"/>
              </a:rPr>
              <a:t>K=2</a:t>
            </a:r>
          </a:p>
        </p:txBody>
      </p:sp>
      <p:sp>
        <p:nvSpPr>
          <p:cNvPr name="TextBox 8" id="8"/>
          <p:cNvSpPr txBox="true"/>
          <p:nvPr/>
        </p:nvSpPr>
        <p:spPr>
          <a:xfrm rot="0">
            <a:off x="1269892" y="1354596"/>
            <a:ext cx="1316236" cy="495290"/>
          </a:xfrm>
          <a:prstGeom prst="rect">
            <a:avLst/>
          </a:prstGeom>
        </p:spPr>
        <p:txBody>
          <a:bodyPr anchor="t" rtlCol="false" tIns="0" lIns="0" bIns="0" rIns="0">
            <a:spAutoFit/>
          </a:bodyPr>
          <a:lstStyle/>
          <a:p>
            <a:pPr algn="ctr" marL="647493" indent="-323746" lvl="1">
              <a:lnSpc>
                <a:spcPts val="4198"/>
              </a:lnSpc>
              <a:buFont typeface="Arial"/>
              <a:buChar char="•"/>
            </a:pPr>
            <a:r>
              <a:rPr lang="en-US" sz="2999">
                <a:solidFill>
                  <a:srgbClr val="000000"/>
                </a:solidFill>
                <a:latin typeface="Open Sans"/>
                <a:ea typeface="Open Sans"/>
                <a:cs typeface="Open Sans"/>
                <a:sym typeface="Open Sans"/>
              </a:rPr>
              <a:t>K=4</a:t>
            </a:r>
          </a:p>
        </p:txBody>
      </p:sp>
      <p:sp>
        <p:nvSpPr>
          <p:cNvPr name="TextBox 9" id="9"/>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21/24</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Freeform 4" id="4"/>
          <p:cNvSpPr/>
          <p:nvPr/>
        </p:nvSpPr>
        <p:spPr>
          <a:xfrm flipH="false" flipV="false" rot="0">
            <a:off x="1028700" y="2408339"/>
            <a:ext cx="6967064" cy="5485005"/>
          </a:xfrm>
          <a:custGeom>
            <a:avLst/>
            <a:gdLst/>
            <a:ahLst/>
            <a:cxnLst/>
            <a:rect r="r" b="b" t="t" l="l"/>
            <a:pathLst>
              <a:path h="5485005" w="6967064">
                <a:moveTo>
                  <a:pt x="0" y="0"/>
                </a:moveTo>
                <a:lnTo>
                  <a:pt x="6967064" y="0"/>
                </a:lnTo>
                <a:lnTo>
                  <a:pt x="6967064" y="5485005"/>
                </a:lnTo>
                <a:lnTo>
                  <a:pt x="0" y="5485005"/>
                </a:lnTo>
                <a:lnTo>
                  <a:pt x="0" y="0"/>
                </a:lnTo>
                <a:close/>
              </a:path>
            </a:pathLst>
          </a:custGeom>
          <a:blipFill>
            <a:blip r:embed="rId3"/>
            <a:stretch>
              <a:fillRect l="0" t="0" r="0" b="0"/>
            </a:stretch>
          </a:blipFill>
        </p:spPr>
      </p:sp>
      <p:sp>
        <p:nvSpPr>
          <p:cNvPr name="Freeform 5" id="5"/>
          <p:cNvSpPr/>
          <p:nvPr/>
        </p:nvSpPr>
        <p:spPr>
          <a:xfrm flipH="false" flipV="false" rot="0">
            <a:off x="10102554" y="2508589"/>
            <a:ext cx="6880521" cy="5384755"/>
          </a:xfrm>
          <a:custGeom>
            <a:avLst/>
            <a:gdLst/>
            <a:ahLst/>
            <a:cxnLst/>
            <a:rect r="r" b="b" t="t" l="l"/>
            <a:pathLst>
              <a:path h="5384755" w="6880521">
                <a:moveTo>
                  <a:pt x="0" y="0"/>
                </a:moveTo>
                <a:lnTo>
                  <a:pt x="6880521" y="0"/>
                </a:lnTo>
                <a:lnTo>
                  <a:pt x="6880521" y="5384755"/>
                </a:lnTo>
                <a:lnTo>
                  <a:pt x="0" y="5384755"/>
                </a:lnTo>
                <a:lnTo>
                  <a:pt x="0" y="0"/>
                </a:lnTo>
                <a:close/>
              </a:path>
            </a:pathLst>
          </a:custGeom>
          <a:blipFill>
            <a:blip r:embed="rId4"/>
            <a:stretch>
              <a:fillRect l="0" t="0" r="0" b="0"/>
            </a:stretch>
          </a:blipFill>
        </p:spPr>
      </p:sp>
      <p:sp>
        <p:nvSpPr>
          <p:cNvPr name="TextBox 6" id="6"/>
          <p:cNvSpPr txBox="true"/>
          <p:nvPr/>
        </p:nvSpPr>
        <p:spPr>
          <a:xfrm rot="0">
            <a:off x="885527" y="19050"/>
            <a:ext cx="5661124" cy="828675"/>
          </a:xfrm>
          <a:prstGeom prst="rect">
            <a:avLst/>
          </a:prstGeom>
        </p:spPr>
        <p:txBody>
          <a:bodyPr anchor="t" rtlCol="false" tIns="0" lIns="0" bIns="0" rIns="0">
            <a:spAutoFit/>
          </a:bodyPr>
          <a:lstStyle/>
          <a:p>
            <a:pPr algn="l">
              <a:lnSpc>
                <a:spcPts val="6298"/>
              </a:lnSpc>
            </a:pPr>
            <a:r>
              <a:rPr lang="en-US" sz="4498" b="true">
                <a:solidFill>
                  <a:srgbClr val="FFFFFF"/>
                </a:solidFill>
                <a:latin typeface="Open Sans Bold"/>
                <a:ea typeface="Open Sans Bold"/>
                <a:cs typeface="Open Sans Bold"/>
                <a:sym typeface="Open Sans Bold"/>
              </a:rPr>
              <a:t>5. Đánh giá mô hình</a:t>
            </a:r>
          </a:p>
        </p:txBody>
      </p:sp>
      <p:sp>
        <p:nvSpPr>
          <p:cNvPr name="TextBox 7" id="7"/>
          <p:cNvSpPr txBox="true"/>
          <p:nvPr/>
        </p:nvSpPr>
        <p:spPr>
          <a:xfrm rot="0">
            <a:off x="10810293" y="1583180"/>
            <a:ext cx="1316236" cy="495290"/>
          </a:xfrm>
          <a:prstGeom prst="rect">
            <a:avLst/>
          </a:prstGeom>
        </p:spPr>
        <p:txBody>
          <a:bodyPr anchor="t" rtlCol="false" tIns="0" lIns="0" bIns="0" rIns="0">
            <a:spAutoFit/>
          </a:bodyPr>
          <a:lstStyle/>
          <a:p>
            <a:pPr algn="ctr" marL="647493" indent="-323746" lvl="1">
              <a:lnSpc>
                <a:spcPts val="4198"/>
              </a:lnSpc>
              <a:buFont typeface="Arial"/>
              <a:buChar char="•"/>
            </a:pPr>
            <a:r>
              <a:rPr lang="en-US" sz="2999">
                <a:solidFill>
                  <a:srgbClr val="000000"/>
                </a:solidFill>
                <a:latin typeface="Open Sans"/>
                <a:ea typeface="Open Sans"/>
                <a:cs typeface="Open Sans"/>
                <a:sym typeface="Open Sans"/>
              </a:rPr>
              <a:t>K=2</a:t>
            </a:r>
          </a:p>
        </p:txBody>
      </p:sp>
      <p:sp>
        <p:nvSpPr>
          <p:cNvPr name="TextBox 8" id="8"/>
          <p:cNvSpPr txBox="true"/>
          <p:nvPr/>
        </p:nvSpPr>
        <p:spPr>
          <a:xfrm rot="0">
            <a:off x="1445781" y="1564154"/>
            <a:ext cx="1316712" cy="514316"/>
          </a:xfrm>
          <a:prstGeom prst="rect">
            <a:avLst/>
          </a:prstGeom>
        </p:spPr>
        <p:txBody>
          <a:bodyPr anchor="t" rtlCol="false" tIns="0" lIns="0" bIns="0" rIns="0">
            <a:spAutoFit/>
          </a:bodyPr>
          <a:lstStyle/>
          <a:p>
            <a:pPr algn="ctr" marL="647700" indent="-323850" lvl="1">
              <a:lnSpc>
                <a:spcPts val="4200"/>
              </a:lnSpc>
              <a:buFont typeface="Arial"/>
              <a:buChar char="•"/>
            </a:pPr>
            <a:r>
              <a:rPr lang="en-US" sz="3000">
                <a:solidFill>
                  <a:srgbClr val="000000"/>
                </a:solidFill>
                <a:latin typeface="Open Sans"/>
                <a:ea typeface="Open Sans"/>
                <a:cs typeface="Open Sans"/>
                <a:sym typeface="Open Sans"/>
              </a:rPr>
              <a:t>K=4</a:t>
            </a:r>
          </a:p>
        </p:txBody>
      </p:sp>
      <p:sp>
        <p:nvSpPr>
          <p:cNvPr name="TextBox 9" id="9"/>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22/24</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24" r="0" b="-24"/>
              </a:stretch>
            </a:blipFill>
          </p:spPr>
        </p:sp>
      </p:grpSp>
      <p:sp>
        <p:nvSpPr>
          <p:cNvPr name="TextBox 4" id="4"/>
          <p:cNvSpPr txBox="true"/>
          <p:nvPr/>
        </p:nvSpPr>
        <p:spPr>
          <a:xfrm rot="0">
            <a:off x="8102153" y="4631073"/>
            <a:ext cx="2083693" cy="920079"/>
          </a:xfrm>
          <a:prstGeom prst="rect">
            <a:avLst/>
          </a:prstGeom>
        </p:spPr>
        <p:txBody>
          <a:bodyPr anchor="t" rtlCol="false" tIns="0" lIns="0" bIns="0" rIns="0">
            <a:spAutoFit/>
          </a:bodyPr>
          <a:lstStyle/>
          <a:p>
            <a:pPr algn="ctr">
              <a:lnSpc>
                <a:spcPts val="7559"/>
              </a:lnSpc>
              <a:spcBef>
                <a:spcPct val="0"/>
              </a:spcBef>
            </a:pPr>
            <a:r>
              <a:rPr lang="en-US" b="true" sz="5398">
                <a:solidFill>
                  <a:srgbClr val="000000"/>
                </a:solidFill>
                <a:latin typeface="Open Sans Bold"/>
                <a:ea typeface="Open Sans Bold"/>
                <a:cs typeface="Open Sans Bold"/>
                <a:sym typeface="Open Sans Bold"/>
              </a:rPr>
              <a:t>DEMO</a:t>
            </a:r>
          </a:p>
        </p:txBody>
      </p:sp>
      <p:sp>
        <p:nvSpPr>
          <p:cNvPr name="TextBox 5" id="5"/>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23/24</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65976" y="564377"/>
            <a:ext cx="8556048" cy="928647"/>
            <a:chOff x="0" y="0"/>
            <a:chExt cx="11408064" cy="1238196"/>
          </a:xfrm>
        </p:grpSpPr>
        <p:sp>
          <p:nvSpPr>
            <p:cNvPr name="Freeform 3" id="3"/>
            <p:cNvSpPr/>
            <p:nvPr/>
          </p:nvSpPr>
          <p:spPr>
            <a:xfrm flipH="false" flipV="false" rot="0">
              <a:off x="0" y="0"/>
              <a:ext cx="11408029" cy="1238250"/>
            </a:xfrm>
            <a:custGeom>
              <a:avLst/>
              <a:gdLst/>
              <a:ahLst/>
              <a:cxnLst/>
              <a:rect r="r" b="b" t="t" l="l"/>
              <a:pathLst>
                <a:path h="1238250" w="11408029">
                  <a:moveTo>
                    <a:pt x="0" y="0"/>
                  </a:moveTo>
                  <a:lnTo>
                    <a:pt x="11408029" y="0"/>
                  </a:lnTo>
                  <a:lnTo>
                    <a:pt x="11408029" y="1238250"/>
                  </a:lnTo>
                  <a:lnTo>
                    <a:pt x="0" y="1238250"/>
                  </a:lnTo>
                  <a:lnTo>
                    <a:pt x="0" y="0"/>
                  </a:lnTo>
                  <a:close/>
                </a:path>
              </a:pathLst>
            </a:custGeom>
            <a:blipFill>
              <a:blip r:embed="rId2"/>
              <a:stretch>
                <a:fillRect l="-72" t="0" r="-72" b="4"/>
              </a:stretch>
            </a:blipFill>
          </p:spPr>
        </p:sp>
      </p:grpSp>
      <p:sp>
        <p:nvSpPr>
          <p:cNvPr name="TextBox 4" id="4"/>
          <p:cNvSpPr txBox="true"/>
          <p:nvPr/>
        </p:nvSpPr>
        <p:spPr>
          <a:xfrm rot="0">
            <a:off x="2175778" y="4481512"/>
            <a:ext cx="13936444" cy="1114426"/>
          </a:xfrm>
          <a:prstGeom prst="rect">
            <a:avLst/>
          </a:prstGeom>
        </p:spPr>
        <p:txBody>
          <a:bodyPr anchor="t" rtlCol="false" tIns="0" lIns="0" bIns="0" rIns="0">
            <a:spAutoFit/>
          </a:bodyPr>
          <a:lstStyle/>
          <a:p>
            <a:pPr algn="ctr">
              <a:lnSpc>
                <a:spcPts val="8398"/>
              </a:lnSpc>
            </a:pPr>
            <a:r>
              <a:rPr lang="en-US" sz="5998" b="true">
                <a:solidFill>
                  <a:srgbClr val="000000"/>
                </a:solidFill>
                <a:latin typeface="Open Sans Bold"/>
                <a:ea typeface="Open Sans Bold"/>
                <a:cs typeface="Open Sans Bold"/>
                <a:sym typeface="Open Sans Bold"/>
              </a:rPr>
              <a:t>THANK YOU </a:t>
            </a:r>
          </a:p>
        </p:txBody>
      </p:sp>
      <p:sp>
        <p:nvSpPr>
          <p:cNvPr name="TextBox 5" id="5"/>
          <p:cNvSpPr txBox="true"/>
          <p:nvPr/>
        </p:nvSpPr>
        <p:spPr>
          <a:xfrm rot="0">
            <a:off x="16199345" y="96943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Trang 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DAG6bE71i3U</dc:identifier>
  <dcterms:modified xsi:type="dcterms:W3CDTF">2011-08-01T06:04:30Z</dcterms:modified>
  <cp:revision>1</cp:revision>
  <dc:title>Phân cụm khách hàng trong marketing BẰNG THUẬT TOÁN KMEANS CLUSTERING.pptx</dc:title>
</cp:coreProperties>
</file>